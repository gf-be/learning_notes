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experiment logs: docs/daily/2026-07-28.md, docs/daily/2026-07-31.md.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logs: stage6 geometry+hsv+mosaic and stage8 high-resolution 2048 AdamW; complete metrics from recorded validation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process: Labelme JSON converted with scripts/labelme_to_yolo.py; offline augmentation experiments logged in docs/daily/2026-07-28.md.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dataset counts: data.yaml and logged validation output (133 images, 850 instances).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results: baseline, scratch offline, residual fusion, stage3 light online, stage6 geometry+hsv+mosaic.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results: stage6, stage7, stage8 2048 AdamW, and lr1e-4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high-resolution run: stage8_yolo26m_imgsz2048_lr2e4_mosaic010_v1.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run outputs: 2048 AdamW, MuSGD; user-provided senior model screenshots and YAML inspection showing 3-class YOLO11n.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augmentation evidence in docs/daily/2026-07-28.md. Principle is an inference from project results and standard data-generalization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post-processing experiment: docs/daily/2026-08-03.md; threshold scan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post-processing results: docs/daily/2026-08-03.md, PP-1 class-specific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post-processing results: docs/daily/2026-08-03.md, PP-2 NMS IoU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next-step plan based on experiment outcomes and user’s stated reporting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summary of all experiments through 2026-08-03.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_ACADEM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B78"/>
          </a:solidFill>
          <a:ln w="12700">
            <a:solidFill>
              <a:srgbClr val="153B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7620">
            <a:solidFill>
              <a:srgbClr val="BDD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58368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YOLO26 表面瑕疵检测周汇报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583680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2026.08.03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5" Type="http://schemas.openxmlformats.org/officeDocument/2006/relationships/notesSlide" Target="../notesSlides/notesSlide13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53B78"/>
          </a:solidFill>
          <a:ln w="12700">
            <a:solidFill>
              <a:srgbClr val="153B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12191695" cy="118872"/>
          </a:xfrm>
          <a:prstGeom prst="rect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57400"/>
            <a:ext cx="749808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YOLO26 表面瑕疵检测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2697480"/>
            <a:ext cx="5120640" cy="594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实验周汇报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768096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围绕数据、在线增强、高分辨率与模型选择的阶段性结论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224528"/>
            <a:ext cx="7543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462272"/>
            <a:ext cx="7059168" cy="5852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汇报核心：当前最优提升来自「真实原图 2048 + 适度在线增强」，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下一阶段的主矛盾是有效数据与错误闭环，而非继续堆叠通用参数。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 rot="900000">
            <a:off x="8458200" y="1783080"/>
            <a:ext cx="2880360" cy="2880360"/>
          </a:xfrm>
          <a:prstGeom prst="arc">
            <a:avLst/>
          </a:prstGeom>
          <a:noFill/>
          <a:ln w="101600">
            <a:solidFill>
              <a:srgbClr val="457AC1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1700000">
            <a:off x="8851392" y="2176272"/>
            <a:ext cx="2103120" cy="2103120"/>
          </a:xfrm>
          <a:prstGeom prst="arc">
            <a:avLst/>
          </a:prstGeom>
          <a:noFill/>
          <a:ln w="50800">
            <a:solidFill>
              <a:srgbClr val="F6B322">
                <a:alpha val="9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37192" y="2834640"/>
            <a:ext cx="749808" cy="749808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5047488"/>
            <a:ext cx="233172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表面缺陷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一、本周实验总览：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已形成两条候选路线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统一验证集：133 张图像 / 850 个目标；原始图像分辨率 2048×2048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21308"/>
            <a:ext cx="159105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总体结论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87168" y="1335024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271016"/>
            <a:ext cx="8613648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在线增强优于当前离线合成：轻量几何增强、低 HSV 与 Mosaic 能稳定提高泛化。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2487168" y="1819656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755648"/>
            <a:ext cx="8613648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 输入并未让整体 mAP50 最高，但对 scratch 的严格定位（mAP50-95）最有价值。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2487168" y="230428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240280"/>
            <a:ext cx="8613648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学习率从 2e-4 再降至 1e-4、以及切换 MuSGD，均未在该小数据集上超过 AdamW。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1064240" cy="2624328"/>
          </a:xfrm>
          <a:prstGeom prst="roundRect">
            <a:avLst>
              <a:gd name="adj" fmla="val 2091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24612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268980"/>
            <a:ext cx="181965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 A · 泛化优先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1938528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1280 + 低 HSV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几何增强 + Mosaic 0.10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27832" y="3584448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3675888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00984" y="3867912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0.483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882896" y="3584448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675888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mAP50-95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3867912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0.248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601968" y="3246120"/>
            <a:ext cx="0" cy="1920240"/>
          </a:xfrm>
          <a:prstGeom prst="line">
            <a:avLst/>
          </a:prstGeom>
          <a:noFill/>
          <a:ln w="15240">
            <a:solidFill>
              <a:srgbClr val="7FA8D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812280" y="32461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268980"/>
            <a:ext cx="177393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 B · 划痕优先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30568" y="3749040"/>
            <a:ext cx="178308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 + AdamW 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lr0=2e-4 + Mosaic 0.10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869680" y="3584448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3675888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mAP50-95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42832" y="3867912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0.245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0497312" y="3584448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70464" y="3675888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整体 mAP50-95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70464" y="3867912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0.252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68680" y="5120640"/>
            <a:ext cx="10149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注：两条路线服务不同目标；不宜只用单一总体 mAP50 取代缺陷级判断。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B78"/>
          </a:solidFill>
          <a:ln w="12700">
            <a:solidFill>
              <a:srgbClr val="153B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777240"/>
            <a:ext cx="12191695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128016"/>
            <a:ext cx="443484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一、本周实验总览：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4846320" y="128016"/>
            <a:ext cx="66294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两条候选路线完整数据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402336" y="886968"/>
            <a:ext cx="109728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统一验证集：133 张图像 / 850 个实例；两种配置分别面向总体泛化与 scratch 严格定位。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1225296"/>
            <a:ext cx="5468112" cy="5010912"/>
          </a:xfrm>
          <a:prstGeom prst="roundRect">
            <a:avLst>
              <a:gd name="adj" fmla="val 1095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" y="1435608"/>
            <a:ext cx="248716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1458468"/>
            <a:ext cx="234086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 A · 总体泛化优先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21792" y="1856232"/>
            <a:ext cx="4983480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1280 / batch=8 / AdamW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几何增强 + 低 HSV + Mosaic=0.10</a:t>
            </a:r>
            <a:endParaRPr lang="en-US" sz="1420" dirty="0"/>
          </a:p>
        </p:txBody>
      </p:sp>
      <p:sp>
        <p:nvSpPr>
          <p:cNvPr id="43" name="Shape 41"/>
          <p:cNvSpPr/>
          <p:nvPr/>
        </p:nvSpPr>
        <p:spPr>
          <a:xfrm>
            <a:off x="576072" y="2532888"/>
            <a:ext cx="1280160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2615184"/>
            <a:ext cx="1243584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1892808" y="2532888"/>
            <a:ext cx="758952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11096" y="2615184"/>
            <a:ext cx="722376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2688336" y="2532888"/>
            <a:ext cx="758952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06624" y="2615184"/>
            <a:ext cx="722376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3483864" y="2532888"/>
            <a:ext cx="1115568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02152" y="2615184"/>
            <a:ext cx="1078992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4636008" y="2532888"/>
            <a:ext cx="1225296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54296" y="2615184"/>
            <a:ext cx="1188720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mAP50-95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576072" y="2880360"/>
            <a:ext cx="12801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2990088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all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892808" y="2880360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11096" y="2990088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.583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688336" y="2880360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06624" y="2990088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.477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483864" y="2880360"/>
            <a:ext cx="111556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02152" y="2990088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.483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636008" y="2880360"/>
            <a:ext cx="12252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54296" y="2990088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.248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76072" y="3364992"/>
            <a:ext cx="1280160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3474720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892808" y="3364992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11096" y="3474720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.629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88336" y="3364992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06624" y="3474720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.596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483864" y="3364992"/>
            <a:ext cx="1115568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02152" y="3474720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.648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636008" y="3364992"/>
            <a:ext cx="1225296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54296" y="3474720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.379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" y="3849624"/>
            <a:ext cx="12801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4360" y="3959352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892808" y="3849624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11096" y="3959352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.711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88336" y="3849624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06624" y="3959352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.300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483864" y="3849624"/>
            <a:ext cx="111556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02152" y="3959352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.349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636008" y="3849624"/>
            <a:ext cx="12252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54296" y="3959352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.162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76072" y="4334256"/>
            <a:ext cx="1280160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94360" y="4443984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892808" y="4334256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911096" y="4443984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.474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688336" y="4334256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06624" y="4443984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.573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483864" y="4334256"/>
            <a:ext cx="1115568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02152" y="4443984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.490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36008" y="4334256"/>
            <a:ext cx="1225296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54296" y="4443984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.207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576072" y="4818888"/>
            <a:ext cx="12801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94360" y="4928616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892808" y="4818888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911096" y="4928616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.520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2688336" y="4818888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06624" y="4928616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.441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3483864" y="4818888"/>
            <a:ext cx="111556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02152" y="4928616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.443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4636008" y="4818888"/>
            <a:ext cx="12252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54296" y="4928616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.245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612648" y="5431536"/>
            <a:ext cx="4983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 最高：0.483</a:t>
            </a:r>
            <a:endParaRPr lang="en-US" sz="1500" dirty="0"/>
          </a:p>
        </p:txBody>
      </p:sp>
      <p:sp>
        <p:nvSpPr>
          <p:cNvPr id="104" name="Shape 102"/>
          <p:cNvSpPr/>
          <p:nvPr/>
        </p:nvSpPr>
        <p:spPr>
          <a:xfrm>
            <a:off x="6300216" y="1225296"/>
            <a:ext cx="5468112" cy="5010912"/>
          </a:xfrm>
          <a:prstGeom prst="roundRect">
            <a:avLst>
              <a:gd name="adj" fmla="val 1095"/>
            </a:avLst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501384" y="1435608"/>
            <a:ext cx="248716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74536" y="1458468"/>
            <a:ext cx="234086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 B · 划痕定位优先</a:t>
            </a:r>
            <a:endParaRPr lang="en-US" sz="1500" dirty="0"/>
          </a:p>
        </p:txBody>
      </p:sp>
      <p:sp>
        <p:nvSpPr>
          <p:cNvPr id="107" name="Text 105"/>
          <p:cNvSpPr/>
          <p:nvPr/>
        </p:nvSpPr>
        <p:spPr>
          <a:xfrm>
            <a:off x="6510528" y="1856232"/>
            <a:ext cx="4983480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 / batch=2 / AdamW / lr0=2e-4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Mosaic=0.10</a:t>
            </a:r>
            <a:endParaRPr lang="en-US" sz="1420" dirty="0"/>
          </a:p>
        </p:txBody>
      </p:sp>
      <p:sp>
        <p:nvSpPr>
          <p:cNvPr id="108" name="Shape 106"/>
          <p:cNvSpPr/>
          <p:nvPr/>
        </p:nvSpPr>
        <p:spPr>
          <a:xfrm>
            <a:off x="6464808" y="2532888"/>
            <a:ext cx="1280160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83096" y="2615184"/>
            <a:ext cx="1243584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en-US" sz="1080" dirty="0"/>
          </a:p>
        </p:txBody>
      </p:sp>
      <p:sp>
        <p:nvSpPr>
          <p:cNvPr id="110" name="Shape 108"/>
          <p:cNvSpPr/>
          <p:nvPr/>
        </p:nvSpPr>
        <p:spPr>
          <a:xfrm>
            <a:off x="7781544" y="2532888"/>
            <a:ext cx="758952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99832" y="2615184"/>
            <a:ext cx="722376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</a:t>
            </a:r>
            <a:endParaRPr lang="en-US" sz="1080" dirty="0"/>
          </a:p>
        </p:txBody>
      </p:sp>
      <p:sp>
        <p:nvSpPr>
          <p:cNvPr id="112" name="Shape 110"/>
          <p:cNvSpPr/>
          <p:nvPr/>
        </p:nvSpPr>
        <p:spPr>
          <a:xfrm>
            <a:off x="8577072" y="2532888"/>
            <a:ext cx="758952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595360" y="2615184"/>
            <a:ext cx="722376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</a:t>
            </a:r>
            <a:endParaRPr lang="en-US" sz="1080" dirty="0"/>
          </a:p>
        </p:txBody>
      </p:sp>
      <p:sp>
        <p:nvSpPr>
          <p:cNvPr id="114" name="Shape 112"/>
          <p:cNvSpPr/>
          <p:nvPr/>
        </p:nvSpPr>
        <p:spPr>
          <a:xfrm>
            <a:off x="9372600" y="2532888"/>
            <a:ext cx="1115568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390888" y="2615184"/>
            <a:ext cx="1078992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</a:t>
            </a:r>
            <a:endParaRPr lang="en-US" sz="1080" dirty="0"/>
          </a:p>
        </p:txBody>
      </p:sp>
      <p:sp>
        <p:nvSpPr>
          <p:cNvPr id="116" name="Shape 114"/>
          <p:cNvSpPr/>
          <p:nvPr/>
        </p:nvSpPr>
        <p:spPr>
          <a:xfrm>
            <a:off x="10524744" y="2532888"/>
            <a:ext cx="1225296" cy="329184"/>
          </a:xfrm>
          <a:prstGeom prst="roundRect">
            <a:avLst>
              <a:gd name="adj" fmla="val 277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543032" y="2615184"/>
            <a:ext cx="1188720" cy="137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mAP50-95</a:t>
            </a:r>
            <a:endParaRPr lang="en-US" sz="1080" dirty="0"/>
          </a:p>
        </p:txBody>
      </p:sp>
      <p:sp>
        <p:nvSpPr>
          <p:cNvPr id="118" name="Shape 116"/>
          <p:cNvSpPr/>
          <p:nvPr/>
        </p:nvSpPr>
        <p:spPr>
          <a:xfrm>
            <a:off x="6464808" y="2880360"/>
            <a:ext cx="12801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483096" y="2990088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all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7781544" y="2880360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799832" y="2990088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.528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577072" y="2880360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595360" y="2990088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.478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9372600" y="2880360"/>
            <a:ext cx="111556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390888" y="2990088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.462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10524744" y="2880360"/>
            <a:ext cx="12252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543032" y="2990088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.252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6464808" y="3364992"/>
            <a:ext cx="1280160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483096" y="3474720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7781544" y="3364992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799832" y="3474720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.475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577072" y="3364992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595360" y="3474720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.577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9372600" y="3364992"/>
            <a:ext cx="1115568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390888" y="3474720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.571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10524744" y="3364992"/>
            <a:ext cx="1225296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543032" y="3474720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.347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6464808" y="3849624"/>
            <a:ext cx="12801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483096" y="3959352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7781544" y="3849624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799832" y="3959352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.680</a:t>
            </a:r>
            <a:endParaRPr lang="en-US" sz="1300" dirty="0"/>
          </a:p>
        </p:txBody>
      </p:sp>
      <p:sp>
        <p:nvSpPr>
          <p:cNvPr id="142" name="Shape 140"/>
          <p:cNvSpPr/>
          <p:nvPr/>
        </p:nvSpPr>
        <p:spPr>
          <a:xfrm>
            <a:off x="8577072" y="3849624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595360" y="3959352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.320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9372600" y="3849624"/>
            <a:ext cx="111556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390888" y="3959352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.390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10524744" y="3849624"/>
            <a:ext cx="12252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543032" y="3959352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.245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6464808" y="4334256"/>
            <a:ext cx="1280160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483096" y="4443984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</a:t>
            </a:r>
            <a:endParaRPr lang="en-US" sz="1200" dirty="0"/>
          </a:p>
        </p:txBody>
      </p:sp>
      <p:sp>
        <p:nvSpPr>
          <p:cNvPr id="150" name="Shape 148"/>
          <p:cNvSpPr/>
          <p:nvPr/>
        </p:nvSpPr>
        <p:spPr>
          <a:xfrm>
            <a:off x="7781544" y="4334256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799832" y="4443984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.496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8577072" y="4334256"/>
            <a:ext cx="758952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595360" y="4443984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.577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9372600" y="4334256"/>
            <a:ext cx="1115568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390888" y="4443984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.521</a:t>
            </a:r>
            <a:endParaRPr lang="en-US" sz="1300" dirty="0"/>
          </a:p>
        </p:txBody>
      </p:sp>
      <p:sp>
        <p:nvSpPr>
          <p:cNvPr id="156" name="Shape 154"/>
          <p:cNvSpPr/>
          <p:nvPr/>
        </p:nvSpPr>
        <p:spPr>
          <a:xfrm>
            <a:off x="10524744" y="4334256"/>
            <a:ext cx="1225296" cy="420624"/>
          </a:xfrm>
          <a:prstGeom prst="rect">
            <a:avLst/>
          </a:prstGeom>
          <a:solidFill>
            <a:srgbClr val="F7FB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0543032" y="4443984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.221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6464808" y="4818888"/>
            <a:ext cx="12801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483096" y="4928616"/>
            <a:ext cx="124358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7781544" y="4818888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799832" y="4928616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.460</a:t>
            </a:r>
            <a:endParaRPr lang="en-US" sz="1300" dirty="0"/>
          </a:p>
        </p:txBody>
      </p:sp>
      <p:sp>
        <p:nvSpPr>
          <p:cNvPr id="162" name="Shape 160"/>
          <p:cNvSpPr/>
          <p:nvPr/>
        </p:nvSpPr>
        <p:spPr>
          <a:xfrm>
            <a:off x="8577072" y="4818888"/>
            <a:ext cx="758952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595360" y="4928616"/>
            <a:ext cx="72237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.444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9372600" y="4818888"/>
            <a:ext cx="111556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390888" y="4928616"/>
            <a:ext cx="107899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.366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10524744" y="4818888"/>
            <a:ext cx="122529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543032" y="4928616"/>
            <a:ext cx="1188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.196</a:t>
            </a:r>
            <a:endParaRPr lang="en-US" sz="1300" dirty="0"/>
          </a:p>
        </p:txBody>
      </p:sp>
      <p:sp>
        <p:nvSpPr>
          <p:cNvPr id="168" name="Text 166"/>
          <p:cNvSpPr/>
          <p:nvPr/>
        </p:nvSpPr>
        <p:spPr>
          <a:xfrm>
            <a:off x="6501384" y="5431536"/>
            <a:ext cx="4983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mAP50-95 最高：0.252</a:t>
            </a:r>
            <a:endParaRPr lang="en-US" sz="1500" dirty="0"/>
          </a:p>
        </p:txBody>
      </p:sp>
      <p:sp>
        <p:nvSpPr>
          <p:cNvPr id="169" name="Text 167"/>
          <p:cNvSpPr/>
          <p:nvPr/>
        </p:nvSpPr>
        <p:spPr>
          <a:xfrm>
            <a:off x="685800" y="6099048"/>
            <a:ext cx="1078992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说明：候选 A 更适合作为总体 mAP50 对照；候选 B 对 scratch 的严格定位更有价值（mAP50-95=0.245）。</a:t>
            </a:r>
            <a:endParaRPr lang="en-US" sz="1250" dirty="0"/>
          </a:p>
        </p:txBody>
      </p:sp>
      <p:sp>
        <p:nvSpPr>
          <p:cNvPr id="1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二、单张训练样本来源：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原图、标注与在线增强相互独立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2039112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180136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60220"/>
            <a:ext cx="165506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原始工件图像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89888" y="2331720"/>
            <a:ext cx="566928" cy="566928"/>
          </a:xfrm>
          <a:prstGeom prst="ellipse">
            <a:avLst/>
          </a:prstGeom>
          <a:solidFill>
            <a:srgbClr val="457AC1"/>
          </a:solidFill>
          <a:ln w="12700">
            <a:solidFill>
              <a:srgbClr val="457A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08376"/>
            <a:ext cx="1719072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2048×2048 实拍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不同工件/批次/照明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2807208" y="2331720"/>
            <a:ext cx="420624" cy="347472"/>
          </a:xfrm>
          <a:prstGeom prst="rightArrow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72768"/>
            <a:ext cx="2039112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737360"/>
            <a:ext cx="180136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760220"/>
            <a:ext cx="165506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Labelme 多边形标注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9080" y="2331720"/>
            <a:ext cx="566928" cy="566928"/>
          </a:xfrm>
          <a:prstGeom prst="ellipse">
            <a:avLst/>
          </a:prstGeom>
          <a:solidFill>
            <a:srgbClr val="457AC1"/>
          </a:solidFill>
          <a:ln w="12700">
            <a:solidFill>
              <a:srgbClr val="457A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3008376"/>
            <a:ext cx="1719072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人工圈定 chipping、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scratch、splash、spot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5486400" y="2331720"/>
            <a:ext cx="420624" cy="347472"/>
          </a:xfrm>
          <a:prstGeom prst="rightArrow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6752" y="1572768"/>
            <a:ext cx="2039112" cy="1984248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1737360"/>
            <a:ext cx="180136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760220"/>
            <a:ext cx="165506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YOLO 训练标签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48272" y="2331720"/>
            <a:ext cx="566928" cy="566928"/>
          </a:xfrm>
          <a:prstGeom prst="ellipse">
            <a:avLst/>
          </a:prstGeom>
          <a:solidFill>
            <a:srgbClr val="457AC1"/>
          </a:solidFill>
          <a:ln w="12700">
            <a:solidFill>
              <a:srgbClr val="457A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3008376"/>
            <a:ext cx="1719072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 + 归一化坐标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训练时读取同名标签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8165592" y="2331720"/>
            <a:ext cx="420624" cy="347472"/>
          </a:xfrm>
          <a:prstGeom prst="rightArrow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95944" y="1572768"/>
            <a:ext cx="2039112" cy="1984248"/>
          </a:xfrm>
          <a:prstGeom prst="roundRect">
            <a:avLst>
              <a:gd name="adj" fmla="val 2765"/>
            </a:avLst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14816" y="1737360"/>
            <a:ext cx="180136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87968" y="1760220"/>
            <a:ext cx="165506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在线增强训练视图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27464" y="2331720"/>
            <a:ext cx="566928" cy="566928"/>
          </a:xfrm>
          <a:prstGeom prst="ellipse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0536" y="3008376"/>
            <a:ext cx="1719072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每个 epoch 随机变化</a:t>
            </a:r>
            <a:endParaRPr lang="en-US" sz="1340" dirty="0"/>
          </a:p>
          <a:p>
            <a:pPr marL="0" indent="0" algn="ctr">
              <a:buNone/>
            </a:pPr>
            <a:r>
              <a:rPr lang="en-US" sz="13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不落盘、不改变验证集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658368" y="4187952"/>
            <a:ext cx="10917936" cy="1261872"/>
          </a:xfrm>
          <a:prstGeom prst="roundRect">
            <a:avLst>
              <a:gd name="adj" fmla="val 4348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4453128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475988"/>
            <a:ext cx="172821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离线合成的定位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035808" y="4407408"/>
            <a:ext cx="8156448" cy="6583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离线增强会生成新的“文件样本”，但其信息量取决于是否保留真实的缺陷纹理、光照与背景规律。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当前验证表明：整图复制、直接粘贴和残差融合未形成稳定收益；因此它应作为辅助，而不是替代真实采集。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0" name="Shape 3"/>
          <p:cNvSpPr/>
          <p:nvPr/>
        </p:nvSpPr>
        <p:spPr>
          <a:xfrm>
            <a:off x="566928" y="1335024"/>
            <a:ext cx="6565392" cy="4553712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41" name="Text 4"/>
          <p:cNvSpPr/>
          <p:nvPr/>
        </p:nvSpPr>
        <p:spPr>
          <a:xfrm>
            <a:off x="868680" y="1572768"/>
            <a:ext cx="283464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训练集目标实例数（约）</a:t>
            </a:r>
            <a:endParaRPr lang="en-US" sz="1600" dirty="0"/>
          </a:p>
        </p:txBody>
      </p:sp>
      <p:sp>
        <p:nvSpPr>
          <p:cNvPr id="142" name="Shape 5"/>
          <p:cNvSpPr/>
          <p:nvPr/>
        </p:nvSpPr>
        <p:spPr>
          <a:xfrm>
            <a:off x="1051560" y="5285232"/>
            <a:ext cx="5577840" cy="0"/>
          </a:xfrm>
          <a:prstGeom prst="line">
            <a:avLst/>
          </a:prstGeom>
          <a:noFill/>
          <a:ln w="10160">
            <a:solidFill>
              <a:srgbClr val="5C6A7D"/>
            </a:solidFill>
            <a:prstDash val="solid"/>
            <a:headEnd type="none"/>
            <a:tailEnd type="none"/>
          </a:ln>
        </p:spPr>
      </p:sp>
      <p:sp>
        <p:nvSpPr>
          <p:cNvPr id="143" name="Shape 6"/>
          <p:cNvSpPr/>
          <p:nvPr/>
        </p:nvSpPr>
        <p:spPr>
          <a:xfrm>
            <a:off x="1188720" y="3659046"/>
            <a:ext cx="786384" cy="1626186"/>
          </a:xfrm>
          <a:prstGeom prst="rect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44" name="Text 7"/>
          <p:cNvSpPr/>
          <p:nvPr/>
        </p:nvSpPr>
        <p:spPr>
          <a:xfrm>
            <a:off x="1078992" y="3366438"/>
            <a:ext cx="1005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1015</a:t>
            </a:r>
            <a:endParaRPr lang="en-US" sz="1600" dirty="0"/>
          </a:p>
        </p:txBody>
      </p:sp>
      <p:sp>
        <p:nvSpPr>
          <p:cNvPr id="145" name="Text 8"/>
          <p:cNvSpPr/>
          <p:nvPr/>
        </p:nvSpPr>
        <p:spPr>
          <a:xfrm>
            <a:off x="923544" y="5422392"/>
            <a:ext cx="132588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</a:t>
            </a:r>
            <a:endParaRPr lang="en-US" sz="1300" dirty="0"/>
          </a:p>
        </p:txBody>
      </p:sp>
      <p:sp>
        <p:nvSpPr>
          <p:cNvPr id="146" name="Shape 9"/>
          <p:cNvSpPr/>
          <p:nvPr/>
        </p:nvSpPr>
        <p:spPr>
          <a:xfrm>
            <a:off x="2606040" y="5160264"/>
            <a:ext cx="786384" cy="124968"/>
          </a:xfrm>
          <a:prstGeom prst="rect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147" name="Text 10"/>
          <p:cNvSpPr/>
          <p:nvPr/>
        </p:nvSpPr>
        <p:spPr>
          <a:xfrm>
            <a:off x="2496312" y="4867656"/>
            <a:ext cx="1005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78</a:t>
            </a:r>
            <a:endParaRPr lang="en-US" sz="1600" dirty="0"/>
          </a:p>
        </p:txBody>
      </p:sp>
      <p:sp>
        <p:nvSpPr>
          <p:cNvPr id="148" name="Text 11"/>
          <p:cNvSpPr/>
          <p:nvPr/>
        </p:nvSpPr>
        <p:spPr>
          <a:xfrm>
            <a:off x="2340864" y="5422392"/>
            <a:ext cx="132588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300" dirty="0"/>
          </a:p>
        </p:txBody>
      </p:sp>
      <p:sp>
        <p:nvSpPr>
          <p:cNvPr id="149" name="Shape 12"/>
          <p:cNvSpPr/>
          <p:nvPr/>
        </p:nvSpPr>
        <p:spPr>
          <a:xfrm>
            <a:off x="4023360" y="2286000"/>
            <a:ext cx="786384" cy="2999232"/>
          </a:xfrm>
          <a:prstGeom prst="rect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150" name="Text 13"/>
          <p:cNvSpPr/>
          <p:nvPr/>
        </p:nvSpPr>
        <p:spPr>
          <a:xfrm>
            <a:off x="3913632" y="1993392"/>
            <a:ext cx="1005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1872</a:t>
            </a:r>
            <a:endParaRPr lang="en-US" sz="1600" dirty="0"/>
          </a:p>
        </p:txBody>
      </p:sp>
      <p:sp>
        <p:nvSpPr>
          <p:cNvPr id="151" name="Text 14"/>
          <p:cNvSpPr/>
          <p:nvPr/>
        </p:nvSpPr>
        <p:spPr>
          <a:xfrm>
            <a:off x="3758184" y="5422392"/>
            <a:ext cx="132588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</a:t>
            </a:r>
            <a:endParaRPr lang="en-US" sz="1300" dirty="0"/>
          </a:p>
        </p:txBody>
      </p:sp>
      <p:sp>
        <p:nvSpPr>
          <p:cNvPr id="152" name="Shape 15"/>
          <p:cNvSpPr/>
          <p:nvPr/>
        </p:nvSpPr>
        <p:spPr>
          <a:xfrm>
            <a:off x="5440680" y="2452624"/>
            <a:ext cx="786384" cy="2832608"/>
          </a:xfrm>
          <a:prstGeom prst="rect">
            <a:avLst/>
          </a:prstGeom>
          <a:solidFill>
            <a:srgbClr val="4BA39C"/>
          </a:solidFill>
          <a:ln w="12700">
            <a:solidFill>
              <a:srgbClr val="4BA39C"/>
            </a:solidFill>
            <a:prstDash val="solid"/>
          </a:ln>
        </p:spPr>
      </p:sp>
      <p:sp>
        <p:nvSpPr>
          <p:cNvPr id="153" name="Text 16"/>
          <p:cNvSpPr/>
          <p:nvPr/>
        </p:nvSpPr>
        <p:spPr>
          <a:xfrm>
            <a:off x="5330952" y="2160016"/>
            <a:ext cx="1005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A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1768</a:t>
            </a:r>
            <a:endParaRPr lang="en-US" sz="1600" dirty="0"/>
          </a:p>
        </p:txBody>
      </p:sp>
      <p:sp>
        <p:nvSpPr>
          <p:cNvPr id="154" name="Text 17"/>
          <p:cNvSpPr/>
          <p:nvPr/>
        </p:nvSpPr>
        <p:spPr>
          <a:xfrm>
            <a:off x="5175504" y="5422392"/>
            <a:ext cx="132588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</a:t>
            </a:r>
            <a:endParaRPr lang="en-US" sz="1300" dirty="0"/>
          </a:p>
        </p:txBody>
      </p:sp>
      <p:sp>
        <p:nvSpPr>
          <p:cNvPr id="155" name="Shape 18"/>
          <p:cNvSpPr/>
          <p:nvPr/>
        </p:nvSpPr>
        <p:spPr>
          <a:xfrm>
            <a:off x="7461504" y="1335024"/>
            <a:ext cx="4114800" cy="4553712"/>
          </a:xfrm>
          <a:prstGeom prst="roundRect">
            <a:avLst>
              <a:gd name="adj" fmla="val 1111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56" name="Shape 19"/>
          <p:cNvSpPr/>
          <p:nvPr/>
        </p:nvSpPr>
        <p:spPr>
          <a:xfrm>
            <a:off x="7790688" y="16276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57" name="Text 20"/>
          <p:cNvSpPr/>
          <p:nvPr/>
        </p:nvSpPr>
        <p:spPr>
          <a:xfrm>
            <a:off x="7863840" y="1650492"/>
            <a:ext cx="168249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对实验的含义</a:t>
            </a:r>
            <a:endParaRPr lang="en-US" sz="1500" dirty="0"/>
          </a:p>
        </p:txBody>
      </p:sp>
      <p:sp>
        <p:nvSpPr>
          <p:cNvPr id="158" name="Shape 21"/>
          <p:cNvSpPr/>
          <p:nvPr/>
        </p:nvSpPr>
        <p:spPr>
          <a:xfrm>
            <a:off x="7827264" y="2231136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159" name="Text 22"/>
          <p:cNvSpPr/>
          <p:nvPr/>
        </p:nvSpPr>
        <p:spPr>
          <a:xfrm>
            <a:off x="8083296" y="2167128"/>
            <a:ext cx="3127248" cy="6583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覆盖远低于其它类，错误案例更难被学习与验证。</a:t>
            </a:r>
            <a:endParaRPr lang="en-US" sz="1620" dirty="0"/>
          </a:p>
        </p:txBody>
      </p:sp>
      <p:sp>
        <p:nvSpPr>
          <p:cNvPr id="160" name="Shape 23"/>
          <p:cNvSpPr/>
          <p:nvPr/>
        </p:nvSpPr>
        <p:spPr>
          <a:xfrm>
            <a:off x="7827264" y="3044952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61" name="Text 24"/>
          <p:cNvSpPr/>
          <p:nvPr/>
        </p:nvSpPr>
        <p:spPr>
          <a:xfrm>
            <a:off x="8083296" y="2980944"/>
            <a:ext cx="3127248" cy="6583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不建议通过删除 splash / spot 强行做成“完全均衡”。</a:t>
            </a:r>
            <a:endParaRPr lang="en-US" sz="1620" dirty="0"/>
          </a:p>
        </p:txBody>
      </p:sp>
      <p:sp>
        <p:nvSpPr>
          <p:cNvPr id="162" name="Shape 25"/>
          <p:cNvSpPr/>
          <p:nvPr/>
        </p:nvSpPr>
        <p:spPr>
          <a:xfrm>
            <a:off x="7827264" y="385876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63" name="Text 26"/>
          <p:cNvSpPr/>
          <p:nvPr/>
        </p:nvSpPr>
        <p:spPr>
          <a:xfrm>
            <a:off x="8083296" y="3794760"/>
            <a:ext cx="3127248" cy="6583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优先补充真实 scratch、无缺陷硬负样本与边界案例。</a:t>
            </a:r>
            <a:endParaRPr lang="en-US" sz="1620" dirty="0"/>
          </a:p>
        </p:txBody>
      </p:sp>
      <p:sp>
        <p:nvSpPr>
          <p:cNvPr id="164" name="Text 27"/>
          <p:cNvSpPr/>
          <p:nvPr/>
        </p:nvSpPr>
        <p:spPr>
          <a:xfrm>
            <a:off x="7845552" y="4828032"/>
            <a:ext cx="3346704" cy="51206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验证集：133 张 / 850 实例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 208 · scratch 20 · splash 309 · spot 313</a:t>
            </a:r>
            <a:endParaRPr lang="en-US" sz="1400" dirty="0"/>
          </a:p>
        </p:txBody>
      </p:sp>
      <p:sp>
        <p:nvSpPr>
          <p:cNvPr id="165" name="Text 30"/>
          <p:cNvSpPr/>
          <p:nvPr/>
        </p:nvSpPr>
        <p:spPr>
          <a:xfrm>
            <a:off x="274193" y="162306"/>
            <a:ext cx="466344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三、离线增强效果展示：</a:t>
            </a:r>
            <a:endParaRPr lang="en-US" sz="2700" dirty="0"/>
          </a:p>
        </p:txBody>
      </p:sp>
      <p:sp>
        <p:nvSpPr>
          <p:cNvPr id="166" name="Text 31"/>
          <p:cNvSpPr/>
          <p:nvPr/>
        </p:nvSpPr>
        <p:spPr>
          <a:xfrm>
            <a:off x="4800600" y="162306"/>
            <a:ext cx="621792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未形成稳定收益</a:t>
            </a:r>
            <a:endParaRPr lang="en-US" sz="2700" dirty="0"/>
          </a:p>
        </p:txBody>
      </p:sp>
      <p:sp>
        <p:nvSpPr>
          <p:cNvPr id="168" name="Shape 33"/>
          <p:cNvSpPr/>
          <p:nvPr/>
        </p:nvSpPr>
        <p:spPr>
          <a:xfrm>
            <a:off x="475488" y="1298448"/>
            <a:ext cx="6784848" cy="455371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69" name="Shape 34"/>
          <p:cNvSpPr/>
          <p:nvPr/>
        </p:nvSpPr>
        <p:spPr>
          <a:xfrm>
            <a:off x="749808" y="1572768"/>
            <a:ext cx="129844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70" name="Text 35"/>
          <p:cNvSpPr/>
          <p:nvPr/>
        </p:nvSpPr>
        <p:spPr>
          <a:xfrm>
            <a:off x="822960" y="1595628"/>
            <a:ext cx="115214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结果对比</a:t>
            </a:r>
            <a:endParaRPr lang="en-US" sz="1500" dirty="0"/>
          </a:p>
        </p:txBody>
      </p:sp>
      <p:sp>
        <p:nvSpPr>
          <p:cNvPr id="171" name="Shape 36"/>
          <p:cNvSpPr/>
          <p:nvPr/>
        </p:nvSpPr>
        <p:spPr>
          <a:xfrm>
            <a:off x="713232" y="2075688"/>
            <a:ext cx="1261872" cy="484632"/>
          </a:xfrm>
          <a:prstGeom prst="roundRect">
            <a:avLst>
              <a:gd name="adj" fmla="val 188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72" name="Text 37"/>
          <p:cNvSpPr/>
          <p:nvPr/>
        </p:nvSpPr>
        <p:spPr>
          <a:xfrm>
            <a:off x="731520" y="2139696"/>
            <a:ext cx="122529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</a:t>
            </a:r>
            <a:endParaRPr lang="en-US" sz="1060" dirty="0"/>
          </a:p>
        </p:txBody>
      </p:sp>
      <p:sp>
        <p:nvSpPr>
          <p:cNvPr id="173" name="Shape 38"/>
          <p:cNvSpPr/>
          <p:nvPr/>
        </p:nvSpPr>
        <p:spPr>
          <a:xfrm>
            <a:off x="2011680" y="2075688"/>
            <a:ext cx="960120" cy="484632"/>
          </a:xfrm>
          <a:prstGeom prst="roundRect">
            <a:avLst>
              <a:gd name="adj" fmla="val 188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74" name="Text 39"/>
          <p:cNvSpPr/>
          <p:nvPr/>
        </p:nvSpPr>
        <p:spPr>
          <a:xfrm>
            <a:off x="2029968" y="2139696"/>
            <a:ext cx="923544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</a:t>
            </a:r>
            <a:endParaRPr lang="en-US" sz="1060" dirty="0"/>
          </a:p>
        </p:txBody>
      </p:sp>
      <p:sp>
        <p:nvSpPr>
          <p:cNvPr id="175" name="Shape 40"/>
          <p:cNvSpPr/>
          <p:nvPr/>
        </p:nvSpPr>
        <p:spPr>
          <a:xfrm>
            <a:off x="3008376" y="2075688"/>
            <a:ext cx="1078992" cy="484632"/>
          </a:xfrm>
          <a:prstGeom prst="roundRect">
            <a:avLst>
              <a:gd name="adj" fmla="val 188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76" name="Text 41"/>
          <p:cNvSpPr/>
          <p:nvPr/>
        </p:nvSpPr>
        <p:spPr>
          <a:xfrm>
            <a:off x="3026664" y="2139696"/>
            <a:ext cx="104241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mAP50-95</a:t>
            </a:r>
            <a:endParaRPr lang="en-US" sz="1060" dirty="0"/>
          </a:p>
        </p:txBody>
      </p:sp>
      <p:sp>
        <p:nvSpPr>
          <p:cNvPr id="177" name="Shape 42"/>
          <p:cNvSpPr/>
          <p:nvPr/>
        </p:nvSpPr>
        <p:spPr>
          <a:xfrm>
            <a:off x="4123944" y="2075688"/>
            <a:ext cx="1078992" cy="484632"/>
          </a:xfrm>
          <a:prstGeom prst="roundRect">
            <a:avLst>
              <a:gd name="adj" fmla="val 188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78" name="Text 43"/>
          <p:cNvSpPr/>
          <p:nvPr/>
        </p:nvSpPr>
        <p:spPr>
          <a:xfrm>
            <a:off x="4142232" y="2139696"/>
            <a:ext cx="104241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</a:t>
            </a:r>
            <a:endParaRPr lang="en-US" sz="1060" dirty="0"/>
          </a:p>
        </p:txBody>
      </p:sp>
      <p:sp>
        <p:nvSpPr>
          <p:cNvPr id="179" name="Shape 44"/>
          <p:cNvSpPr/>
          <p:nvPr/>
        </p:nvSpPr>
        <p:spPr>
          <a:xfrm>
            <a:off x="5239512" y="2075688"/>
            <a:ext cx="1152144" cy="484632"/>
          </a:xfrm>
          <a:prstGeom prst="roundRect">
            <a:avLst>
              <a:gd name="adj" fmla="val 188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80" name="Text 45"/>
          <p:cNvSpPr/>
          <p:nvPr/>
        </p:nvSpPr>
        <p:spPr>
          <a:xfrm>
            <a:off x="5257800" y="2139696"/>
            <a:ext cx="1115568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mAP50-95</a:t>
            </a:r>
            <a:endParaRPr lang="en-US" sz="1060" dirty="0"/>
          </a:p>
        </p:txBody>
      </p:sp>
      <p:sp>
        <p:nvSpPr>
          <p:cNvPr id="181" name="Shape 46"/>
          <p:cNvSpPr/>
          <p:nvPr/>
        </p:nvSpPr>
        <p:spPr>
          <a:xfrm>
            <a:off x="6428232" y="2075688"/>
            <a:ext cx="566928" cy="484632"/>
          </a:xfrm>
          <a:prstGeom prst="roundRect">
            <a:avLst>
              <a:gd name="adj" fmla="val 188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82" name="Text 47"/>
          <p:cNvSpPr/>
          <p:nvPr/>
        </p:nvSpPr>
        <p:spPr>
          <a:xfrm>
            <a:off x="6446520" y="2139696"/>
            <a:ext cx="53035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判断</a:t>
            </a:r>
            <a:endParaRPr lang="en-US" sz="1060" dirty="0"/>
          </a:p>
        </p:txBody>
      </p:sp>
      <p:sp>
        <p:nvSpPr>
          <p:cNvPr id="183" name="Shape 48"/>
          <p:cNvSpPr/>
          <p:nvPr/>
        </p:nvSpPr>
        <p:spPr>
          <a:xfrm>
            <a:off x="713232" y="2596896"/>
            <a:ext cx="1261872" cy="566928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4" name="Text 49"/>
          <p:cNvSpPr/>
          <p:nvPr/>
        </p:nvSpPr>
        <p:spPr>
          <a:xfrm>
            <a:off x="731520" y="2752344"/>
            <a:ext cx="122529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原始基准</a:t>
            </a:r>
            <a:endParaRPr lang="en-US" sz="1240" dirty="0"/>
          </a:p>
        </p:txBody>
      </p:sp>
      <p:sp>
        <p:nvSpPr>
          <p:cNvPr id="185" name="Shape 50"/>
          <p:cNvSpPr/>
          <p:nvPr/>
        </p:nvSpPr>
        <p:spPr>
          <a:xfrm>
            <a:off x="2011680" y="2596896"/>
            <a:ext cx="960120" cy="566928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6" name="Text 51"/>
          <p:cNvSpPr/>
          <p:nvPr/>
        </p:nvSpPr>
        <p:spPr>
          <a:xfrm>
            <a:off x="2029968" y="2752344"/>
            <a:ext cx="923544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.379</a:t>
            </a:r>
            <a:endParaRPr lang="en-US" sz="1460" dirty="0"/>
          </a:p>
        </p:txBody>
      </p:sp>
      <p:sp>
        <p:nvSpPr>
          <p:cNvPr id="187" name="Shape 52"/>
          <p:cNvSpPr/>
          <p:nvPr/>
        </p:nvSpPr>
        <p:spPr>
          <a:xfrm>
            <a:off x="3008376" y="2596896"/>
            <a:ext cx="1078992" cy="566928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8" name="Text 53"/>
          <p:cNvSpPr/>
          <p:nvPr/>
        </p:nvSpPr>
        <p:spPr>
          <a:xfrm>
            <a:off x="3026664" y="2752344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.189</a:t>
            </a:r>
            <a:endParaRPr lang="en-US" sz="1460" dirty="0"/>
          </a:p>
        </p:txBody>
      </p:sp>
      <p:sp>
        <p:nvSpPr>
          <p:cNvPr id="189" name="Shape 54"/>
          <p:cNvSpPr/>
          <p:nvPr/>
        </p:nvSpPr>
        <p:spPr>
          <a:xfrm>
            <a:off x="4123944" y="2596896"/>
            <a:ext cx="1078992" cy="566928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90" name="Text 55"/>
          <p:cNvSpPr/>
          <p:nvPr/>
        </p:nvSpPr>
        <p:spPr>
          <a:xfrm>
            <a:off x="4142232" y="2752344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.240</a:t>
            </a:r>
            <a:endParaRPr lang="en-US" sz="1460" dirty="0"/>
          </a:p>
        </p:txBody>
      </p:sp>
      <p:sp>
        <p:nvSpPr>
          <p:cNvPr id="191" name="Shape 56"/>
          <p:cNvSpPr/>
          <p:nvPr/>
        </p:nvSpPr>
        <p:spPr>
          <a:xfrm>
            <a:off x="5239512" y="2596896"/>
            <a:ext cx="1152144" cy="566928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92" name="Text 57"/>
          <p:cNvSpPr/>
          <p:nvPr/>
        </p:nvSpPr>
        <p:spPr>
          <a:xfrm>
            <a:off x="5257800" y="2752344"/>
            <a:ext cx="1115568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.0826</a:t>
            </a:r>
            <a:endParaRPr lang="en-US" sz="1460" dirty="0"/>
          </a:p>
        </p:txBody>
      </p:sp>
      <p:sp>
        <p:nvSpPr>
          <p:cNvPr id="193" name="Shape 58"/>
          <p:cNvSpPr/>
          <p:nvPr/>
        </p:nvSpPr>
        <p:spPr>
          <a:xfrm>
            <a:off x="6428232" y="2596896"/>
            <a:ext cx="566928" cy="566928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94" name="Text 59"/>
          <p:cNvSpPr/>
          <p:nvPr/>
        </p:nvSpPr>
        <p:spPr>
          <a:xfrm>
            <a:off x="6446520" y="2752344"/>
            <a:ext cx="53035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基准</a:t>
            </a:r>
            <a:endParaRPr lang="en-US" sz="1150" dirty="0"/>
          </a:p>
        </p:txBody>
      </p:sp>
      <p:sp>
        <p:nvSpPr>
          <p:cNvPr id="195" name="Shape 60"/>
          <p:cNvSpPr/>
          <p:nvPr/>
        </p:nvSpPr>
        <p:spPr>
          <a:xfrm>
            <a:off x="713232" y="3273552"/>
            <a:ext cx="12618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96" name="Text 61"/>
          <p:cNvSpPr/>
          <p:nvPr/>
        </p:nvSpPr>
        <p:spPr>
          <a:xfrm>
            <a:off x="731520" y="3429000"/>
            <a:ext cx="122529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整图复制 / 增广</a:t>
            </a:r>
            <a:endParaRPr lang="en-US" sz="1240" dirty="0"/>
          </a:p>
        </p:txBody>
      </p:sp>
      <p:sp>
        <p:nvSpPr>
          <p:cNvPr id="197" name="Shape 62"/>
          <p:cNvSpPr/>
          <p:nvPr/>
        </p:nvSpPr>
        <p:spPr>
          <a:xfrm>
            <a:off x="2011680" y="3273552"/>
            <a:ext cx="960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98" name="Text 63"/>
          <p:cNvSpPr/>
          <p:nvPr/>
        </p:nvSpPr>
        <p:spPr>
          <a:xfrm>
            <a:off x="2029968" y="3429000"/>
            <a:ext cx="923544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.367</a:t>
            </a:r>
            <a:endParaRPr lang="en-US" sz="1460" dirty="0"/>
          </a:p>
        </p:txBody>
      </p:sp>
      <p:sp>
        <p:nvSpPr>
          <p:cNvPr id="199" name="Shape 64"/>
          <p:cNvSpPr/>
          <p:nvPr/>
        </p:nvSpPr>
        <p:spPr>
          <a:xfrm>
            <a:off x="3008376" y="3273552"/>
            <a:ext cx="107899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0" name="Text 65"/>
          <p:cNvSpPr/>
          <p:nvPr/>
        </p:nvSpPr>
        <p:spPr>
          <a:xfrm>
            <a:off x="3026664" y="3429000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.187</a:t>
            </a:r>
            <a:endParaRPr lang="en-US" sz="1460" dirty="0"/>
          </a:p>
        </p:txBody>
      </p:sp>
      <p:sp>
        <p:nvSpPr>
          <p:cNvPr id="201" name="Shape 66"/>
          <p:cNvSpPr/>
          <p:nvPr/>
        </p:nvSpPr>
        <p:spPr>
          <a:xfrm>
            <a:off x="4123944" y="3273552"/>
            <a:ext cx="107899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2" name="Text 67"/>
          <p:cNvSpPr/>
          <p:nvPr/>
        </p:nvSpPr>
        <p:spPr>
          <a:xfrm>
            <a:off x="4142232" y="3429000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.124</a:t>
            </a:r>
            <a:endParaRPr lang="en-US" sz="1460" dirty="0"/>
          </a:p>
        </p:txBody>
      </p:sp>
      <p:sp>
        <p:nvSpPr>
          <p:cNvPr id="203" name="Shape 68"/>
          <p:cNvSpPr/>
          <p:nvPr/>
        </p:nvSpPr>
        <p:spPr>
          <a:xfrm>
            <a:off x="5239512" y="3273552"/>
            <a:ext cx="115214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4" name="Text 69"/>
          <p:cNvSpPr/>
          <p:nvPr/>
        </p:nvSpPr>
        <p:spPr>
          <a:xfrm>
            <a:off x="5257800" y="3429000"/>
            <a:ext cx="1115568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.0751</a:t>
            </a:r>
            <a:endParaRPr lang="en-US" sz="1460" dirty="0"/>
          </a:p>
        </p:txBody>
      </p:sp>
      <p:sp>
        <p:nvSpPr>
          <p:cNvPr id="205" name="Shape 70"/>
          <p:cNvSpPr/>
          <p:nvPr/>
        </p:nvSpPr>
        <p:spPr>
          <a:xfrm>
            <a:off x="6428232" y="3273552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6" name="Text 71"/>
          <p:cNvSpPr/>
          <p:nvPr/>
        </p:nvSpPr>
        <p:spPr>
          <a:xfrm>
            <a:off x="6446520" y="3429000"/>
            <a:ext cx="53035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下降</a:t>
            </a:r>
            <a:endParaRPr lang="en-US" sz="1150" dirty="0"/>
          </a:p>
        </p:txBody>
      </p:sp>
      <p:sp>
        <p:nvSpPr>
          <p:cNvPr id="207" name="Shape 72"/>
          <p:cNvSpPr/>
          <p:nvPr/>
        </p:nvSpPr>
        <p:spPr>
          <a:xfrm>
            <a:off x="713232" y="3950208"/>
            <a:ext cx="1261872" cy="566928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8" name="Text 73"/>
          <p:cNvSpPr/>
          <p:nvPr/>
        </p:nvSpPr>
        <p:spPr>
          <a:xfrm>
            <a:off x="731520" y="4105656"/>
            <a:ext cx="122529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直接粘贴</a:t>
            </a:r>
            <a:endParaRPr lang="en-US" sz="1240" dirty="0"/>
          </a:p>
        </p:txBody>
      </p:sp>
      <p:sp>
        <p:nvSpPr>
          <p:cNvPr id="209" name="Shape 74"/>
          <p:cNvSpPr/>
          <p:nvPr/>
        </p:nvSpPr>
        <p:spPr>
          <a:xfrm>
            <a:off x="2011680" y="3950208"/>
            <a:ext cx="960120" cy="566928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0" name="Text 75"/>
          <p:cNvSpPr/>
          <p:nvPr/>
        </p:nvSpPr>
        <p:spPr>
          <a:xfrm>
            <a:off x="2029968" y="4105656"/>
            <a:ext cx="923544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.382</a:t>
            </a:r>
            <a:endParaRPr lang="en-US" sz="1460" dirty="0"/>
          </a:p>
        </p:txBody>
      </p:sp>
      <p:sp>
        <p:nvSpPr>
          <p:cNvPr id="211" name="Shape 76"/>
          <p:cNvSpPr/>
          <p:nvPr/>
        </p:nvSpPr>
        <p:spPr>
          <a:xfrm>
            <a:off x="3008376" y="3950208"/>
            <a:ext cx="1078992" cy="566928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2" name="Text 77"/>
          <p:cNvSpPr/>
          <p:nvPr/>
        </p:nvSpPr>
        <p:spPr>
          <a:xfrm>
            <a:off x="3026664" y="4105656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.180</a:t>
            </a:r>
            <a:endParaRPr lang="en-US" sz="1460" dirty="0"/>
          </a:p>
        </p:txBody>
      </p:sp>
      <p:sp>
        <p:nvSpPr>
          <p:cNvPr id="213" name="Shape 78"/>
          <p:cNvSpPr/>
          <p:nvPr/>
        </p:nvSpPr>
        <p:spPr>
          <a:xfrm>
            <a:off x="4123944" y="3950208"/>
            <a:ext cx="1078992" cy="566928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4" name="Text 79"/>
          <p:cNvSpPr/>
          <p:nvPr/>
        </p:nvSpPr>
        <p:spPr>
          <a:xfrm>
            <a:off x="4142232" y="4105656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.241</a:t>
            </a:r>
            <a:endParaRPr lang="en-US" sz="1460" dirty="0"/>
          </a:p>
        </p:txBody>
      </p:sp>
      <p:sp>
        <p:nvSpPr>
          <p:cNvPr id="215" name="Shape 80"/>
          <p:cNvSpPr/>
          <p:nvPr/>
        </p:nvSpPr>
        <p:spPr>
          <a:xfrm>
            <a:off x="5239512" y="3950208"/>
            <a:ext cx="1152144" cy="566928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6" name="Text 81"/>
          <p:cNvSpPr/>
          <p:nvPr/>
        </p:nvSpPr>
        <p:spPr>
          <a:xfrm>
            <a:off x="5257800" y="4105656"/>
            <a:ext cx="1115568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.0599</a:t>
            </a:r>
            <a:endParaRPr lang="en-US" sz="1460" dirty="0"/>
          </a:p>
        </p:txBody>
      </p:sp>
      <p:sp>
        <p:nvSpPr>
          <p:cNvPr id="217" name="Shape 82"/>
          <p:cNvSpPr/>
          <p:nvPr/>
        </p:nvSpPr>
        <p:spPr>
          <a:xfrm>
            <a:off x="6428232" y="3950208"/>
            <a:ext cx="566928" cy="566928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8" name="Text 83"/>
          <p:cNvSpPr/>
          <p:nvPr/>
        </p:nvSpPr>
        <p:spPr>
          <a:xfrm>
            <a:off x="6446520" y="4105656"/>
            <a:ext cx="53035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不稳定</a:t>
            </a:r>
            <a:endParaRPr lang="en-US" sz="1150" dirty="0"/>
          </a:p>
        </p:txBody>
      </p:sp>
      <p:sp>
        <p:nvSpPr>
          <p:cNvPr id="219" name="Shape 84"/>
          <p:cNvSpPr/>
          <p:nvPr/>
        </p:nvSpPr>
        <p:spPr>
          <a:xfrm>
            <a:off x="713232" y="4626864"/>
            <a:ext cx="12618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0" name="Text 85"/>
          <p:cNvSpPr/>
          <p:nvPr/>
        </p:nvSpPr>
        <p:spPr>
          <a:xfrm>
            <a:off x="731520" y="4782312"/>
            <a:ext cx="122529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残差融合</a:t>
            </a:r>
            <a:endParaRPr lang="en-US" sz="1240" dirty="0"/>
          </a:p>
        </p:txBody>
      </p:sp>
      <p:sp>
        <p:nvSpPr>
          <p:cNvPr id="221" name="Shape 86"/>
          <p:cNvSpPr/>
          <p:nvPr/>
        </p:nvSpPr>
        <p:spPr>
          <a:xfrm>
            <a:off x="2011680" y="4626864"/>
            <a:ext cx="9601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2" name="Text 87"/>
          <p:cNvSpPr/>
          <p:nvPr/>
        </p:nvSpPr>
        <p:spPr>
          <a:xfrm>
            <a:off x="2029968" y="4782312"/>
            <a:ext cx="923544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.356</a:t>
            </a:r>
            <a:endParaRPr lang="en-US" sz="1460" dirty="0"/>
          </a:p>
        </p:txBody>
      </p:sp>
      <p:sp>
        <p:nvSpPr>
          <p:cNvPr id="223" name="Shape 88"/>
          <p:cNvSpPr/>
          <p:nvPr/>
        </p:nvSpPr>
        <p:spPr>
          <a:xfrm>
            <a:off x="3008376" y="4626864"/>
            <a:ext cx="107899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4" name="Text 89"/>
          <p:cNvSpPr/>
          <p:nvPr/>
        </p:nvSpPr>
        <p:spPr>
          <a:xfrm>
            <a:off x="3026664" y="4782312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.176</a:t>
            </a:r>
            <a:endParaRPr lang="en-US" sz="1460" dirty="0"/>
          </a:p>
        </p:txBody>
      </p:sp>
      <p:sp>
        <p:nvSpPr>
          <p:cNvPr id="225" name="Shape 90"/>
          <p:cNvSpPr/>
          <p:nvPr/>
        </p:nvSpPr>
        <p:spPr>
          <a:xfrm>
            <a:off x="4123944" y="4626864"/>
            <a:ext cx="107899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6" name="Text 91"/>
          <p:cNvSpPr/>
          <p:nvPr/>
        </p:nvSpPr>
        <p:spPr>
          <a:xfrm>
            <a:off x="4142232" y="4782312"/>
            <a:ext cx="1042416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.154</a:t>
            </a:r>
            <a:endParaRPr lang="en-US" sz="1460" dirty="0"/>
          </a:p>
        </p:txBody>
      </p:sp>
      <p:sp>
        <p:nvSpPr>
          <p:cNvPr id="227" name="Shape 92"/>
          <p:cNvSpPr/>
          <p:nvPr/>
        </p:nvSpPr>
        <p:spPr>
          <a:xfrm>
            <a:off x="5239512" y="4626864"/>
            <a:ext cx="115214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8" name="Text 93"/>
          <p:cNvSpPr/>
          <p:nvPr/>
        </p:nvSpPr>
        <p:spPr>
          <a:xfrm>
            <a:off x="5257800" y="4782312"/>
            <a:ext cx="1115568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.0739</a:t>
            </a:r>
            <a:endParaRPr lang="en-US" sz="1460" dirty="0"/>
          </a:p>
        </p:txBody>
      </p:sp>
      <p:sp>
        <p:nvSpPr>
          <p:cNvPr id="229" name="Shape 94"/>
          <p:cNvSpPr/>
          <p:nvPr/>
        </p:nvSpPr>
        <p:spPr>
          <a:xfrm>
            <a:off x="6428232" y="4626864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30" name="Text 95"/>
          <p:cNvSpPr/>
          <p:nvPr/>
        </p:nvSpPr>
        <p:spPr>
          <a:xfrm>
            <a:off x="6446520" y="4782312"/>
            <a:ext cx="53035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下降</a:t>
            </a:r>
            <a:endParaRPr lang="en-US" sz="1150" dirty="0"/>
          </a:p>
        </p:txBody>
      </p:sp>
      <p:sp>
        <p:nvSpPr>
          <p:cNvPr id="231" name="Text 96"/>
          <p:cNvSpPr/>
          <p:nvPr/>
        </p:nvSpPr>
        <p:spPr>
          <a:xfrm>
            <a:off x="758952" y="5477256"/>
            <a:ext cx="621792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唯一“表面上提升”的直接粘贴：总体 mAP50 仅 +0.003，严格定位 mAP50-95 反而从 .189 降至 .180。</a:t>
            </a:r>
            <a:endParaRPr lang="en-US" sz="1220" dirty="0"/>
          </a:p>
        </p:txBody>
      </p:sp>
      <p:sp>
        <p:nvSpPr>
          <p:cNvPr id="232" name="Shape 97"/>
          <p:cNvSpPr/>
          <p:nvPr/>
        </p:nvSpPr>
        <p:spPr>
          <a:xfrm>
            <a:off x="7534656" y="1298448"/>
            <a:ext cx="4160520" cy="4553712"/>
          </a:xfrm>
          <a:prstGeom prst="roundRect">
            <a:avLst>
              <a:gd name="adj" fmla="val 1319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33" name="Shape 98"/>
          <p:cNvSpPr/>
          <p:nvPr/>
        </p:nvSpPr>
        <p:spPr>
          <a:xfrm>
            <a:off x="7827264" y="1572768"/>
            <a:ext cx="1444752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234" name="Text 99"/>
          <p:cNvSpPr/>
          <p:nvPr/>
        </p:nvSpPr>
        <p:spPr>
          <a:xfrm>
            <a:off x="7900416" y="1595628"/>
            <a:ext cx="129844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原因</a:t>
            </a: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分析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5" name="Shape 100"/>
          <p:cNvSpPr/>
          <p:nvPr/>
        </p:nvSpPr>
        <p:spPr>
          <a:xfrm>
            <a:off x="7845552" y="2221992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236" name="Text 101"/>
          <p:cNvSpPr/>
          <p:nvPr/>
        </p:nvSpPr>
        <p:spPr>
          <a:xfrm>
            <a:off x="8101584" y="2157984"/>
            <a:ext cx="3236976" cy="6949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整图复制会同时复制 splash、spot 等共存标签，不能只补 scratch。</a:t>
            </a:r>
            <a:endParaRPr lang="en-US" sz="1620" dirty="0"/>
          </a:p>
        </p:txBody>
      </p:sp>
      <p:sp>
        <p:nvSpPr>
          <p:cNvPr id="237" name="Shape 102"/>
          <p:cNvSpPr/>
          <p:nvPr/>
        </p:nvSpPr>
        <p:spPr>
          <a:xfrm>
            <a:off x="7845552" y="312724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38" name="Text 103"/>
          <p:cNvSpPr/>
          <p:nvPr/>
        </p:nvSpPr>
        <p:spPr>
          <a:xfrm>
            <a:off x="8101584" y="3063240"/>
            <a:ext cx="3236976" cy="8046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粘贴与残差融合可能破坏真实反光、背景纹理和缺陷边缘的物理一致性。</a:t>
            </a:r>
            <a:endParaRPr lang="en-US" sz="1620" dirty="0"/>
          </a:p>
        </p:txBody>
      </p:sp>
      <p:sp>
        <p:nvSpPr>
          <p:cNvPr id="239" name="Shape 104"/>
          <p:cNvSpPr/>
          <p:nvPr/>
        </p:nvSpPr>
        <p:spPr>
          <a:xfrm>
            <a:off x="7845552" y="4160520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40" name="Text 105"/>
          <p:cNvSpPr/>
          <p:nvPr/>
        </p:nvSpPr>
        <p:spPr>
          <a:xfrm>
            <a:off x="8101584" y="4096512"/>
            <a:ext cx="3236976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文件数量增加不等于独立缺陷形态增加，模型仍在重复学习相近样本。</a:t>
            </a:r>
            <a:endParaRPr lang="en-US" sz="1620" dirty="0"/>
          </a:p>
        </p:txBody>
      </p:sp>
      <p:sp>
        <p:nvSpPr>
          <p:cNvPr id="241" name="Text 106"/>
          <p:cNvSpPr/>
          <p:nvPr/>
        </p:nvSpPr>
        <p:spPr>
          <a:xfrm>
            <a:off x="7882128" y="5084064"/>
            <a:ext cx="3419856" cy="42062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结论：离线合成可用于小范围消融，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不能替代真实跨条件采集。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四、增强实验结论：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在线增强有效，离线合成尚未稳定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所有数值为同一 133 张验证集上的检测结果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6748272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54480"/>
            <a:ext cx="25603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 对比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26187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原始基准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41448" y="2039112"/>
            <a:ext cx="3105156" cy="237744"/>
          </a:xfrm>
          <a:prstGeom prst="roundRect">
            <a:avLst>
              <a:gd name="adj" fmla="val 7692"/>
            </a:avLst>
          </a:prstGeom>
          <a:solidFill>
            <a:srgbClr val="5C6A7D"/>
          </a:solidFill>
          <a:ln w="10160">
            <a:solidFill>
              <a:srgbClr val="5C6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2029968"/>
            <a:ext cx="59436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0.379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670048"/>
            <a:ext cx="126187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整图离线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41448" y="2679192"/>
            <a:ext cx="3006840" cy="237744"/>
          </a:xfrm>
          <a:prstGeom prst="roundRect">
            <a:avLst>
              <a:gd name="adj" fmla="val 7692"/>
            </a:avLst>
          </a:prstGeom>
          <a:solidFill>
            <a:srgbClr val="C9506B"/>
          </a:solidFill>
          <a:ln w="10160">
            <a:solidFill>
              <a:srgbClr val="C95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670048"/>
            <a:ext cx="59436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0.367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310128"/>
            <a:ext cx="126187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残差融合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41448" y="3319272"/>
            <a:ext cx="2916717" cy="237744"/>
          </a:xfrm>
          <a:prstGeom prst="roundRect">
            <a:avLst>
              <a:gd name="adj" fmla="val 7692"/>
            </a:avLst>
          </a:prstGeom>
          <a:solidFill>
            <a:srgbClr val="C9506B"/>
          </a:solidFill>
          <a:ln w="10160">
            <a:solidFill>
              <a:srgbClr val="C95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310128"/>
            <a:ext cx="59436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0.356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950208"/>
            <a:ext cx="126187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轻量在线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41448" y="3959352"/>
            <a:ext cx="3850721" cy="237744"/>
          </a:xfrm>
          <a:prstGeom prst="roundRect">
            <a:avLst>
              <a:gd name="adj" fmla="val 7692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7165" y="3987038"/>
            <a:ext cx="59436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0.470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90288"/>
            <a:ext cx="1261872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几何+Mosaic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41448" y="4599432"/>
            <a:ext cx="3957231" cy="237744"/>
          </a:xfrm>
          <a:prstGeom prst="roundRect">
            <a:avLst>
              <a:gd name="adj" fmla="val 7692"/>
            </a:avLst>
          </a:prstGeom>
          <a:solidFill>
            <a:srgbClr val="F6B322"/>
          </a:solidFill>
          <a:ln w="10160">
            <a:solidFill>
              <a:srgbClr val="F6B3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7165" y="4627118"/>
            <a:ext cx="59436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0.483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07808" y="1325880"/>
            <a:ext cx="3977640" cy="4663440"/>
          </a:xfrm>
          <a:prstGeom prst="roundRect">
            <a:avLst>
              <a:gd name="adj" fmla="val 1149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82128" y="1627632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955280" y="1650492"/>
            <a:ext cx="136245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要点</a:t>
            </a: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说明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55280" y="2231136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2167128"/>
            <a:ext cx="2944368" cy="7589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在线增强每轮随机生成，带来更多组合；无需扩大磁盘样本。</a:t>
            </a:r>
            <a:endParaRPr lang="en-US" sz="1620" dirty="0"/>
          </a:p>
        </p:txBody>
      </p:sp>
      <p:sp>
        <p:nvSpPr>
          <p:cNvPr id="27" name="Shape 25"/>
          <p:cNvSpPr/>
          <p:nvPr/>
        </p:nvSpPr>
        <p:spPr>
          <a:xfrm>
            <a:off x="7955280" y="3236976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3172968"/>
            <a:ext cx="2944368" cy="9144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离线整图复制会同时放大非目标类别；粘贴/残差融合可能损伤真实物理外观。</a:t>
            </a:r>
            <a:endParaRPr lang="en-US" sz="1620" dirty="0"/>
          </a:p>
        </p:txBody>
      </p:sp>
      <p:sp>
        <p:nvSpPr>
          <p:cNvPr id="29" name="Shape 27"/>
          <p:cNvSpPr/>
          <p:nvPr/>
        </p:nvSpPr>
        <p:spPr>
          <a:xfrm>
            <a:off x="7955280" y="4379976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4315968"/>
            <a:ext cx="2944368" cy="6949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结论不是“增强无用”，而是当前离线方法未增加足够的独立信息。</a:t>
            </a:r>
            <a:endParaRPr lang="en-US" sz="16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五、参数探索形成：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两条可复现实验配置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1417320"/>
            <a:ext cx="1371600" cy="475488"/>
          </a:xfrm>
          <a:prstGeom prst="roundRect">
            <a:avLst>
              <a:gd name="adj" fmla="val 3846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9616"/>
            <a:ext cx="129844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配置</a:t>
            </a:r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名称</a:t>
            </a:r>
            <a:endParaRPr lang="zh-CN" alt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65960" y="1417320"/>
            <a:ext cx="1664208" cy="475488"/>
          </a:xfrm>
          <a:prstGeom prst="roundRect">
            <a:avLst>
              <a:gd name="adj" fmla="val 3846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02536" y="1499616"/>
            <a:ext cx="1591056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分辨率 / batch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94176" y="1417320"/>
            <a:ext cx="2651760" cy="475488"/>
          </a:xfrm>
          <a:prstGeom prst="roundRect">
            <a:avLst>
              <a:gd name="adj" fmla="val 3846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1499616"/>
            <a:ext cx="257860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关键增强与优化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1371600" cy="475488"/>
          </a:xfrm>
          <a:prstGeom prst="roundRect">
            <a:avLst>
              <a:gd name="adj" fmla="val 3846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499616"/>
            <a:ext cx="129844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3568" y="1417320"/>
            <a:ext cx="1572768" cy="475488"/>
          </a:xfrm>
          <a:prstGeom prst="roundRect">
            <a:avLst>
              <a:gd name="adj" fmla="val 3846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0144" y="1499616"/>
            <a:ext cx="1499616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mAP50-95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74352" y="1417320"/>
            <a:ext cx="1956816" cy="475488"/>
          </a:xfrm>
          <a:prstGeom prst="roundRect">
            <a:avLst>
              <a:gd name="adj" fmla="val 3846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10928" y="1499616"/>
            <a:ext cx="1883664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适用目标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" y="1920240"/>
            <a:ext cx="137160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029968"/>
            <a:ext cx="122529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Stage 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65960" y="1920240"/>
            <a:ext cx="1664208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2029968"/>
            <a:ext cx="1517904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1280 / 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94176" y="1920240"/>
            <a:ext cx="265176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2029968"/>
            <a:ext cx="25054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几何 + 低 HSV + Mosaic 0.10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AdamW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1920240"/>
            <a:ext cx="137160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2029968"/>
            <a:ext cx="122529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0.483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973568" y="1920240"/>
            <a:ext cx="1572768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029968"/>
            <a:ext cx="1426464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0.248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74352" y="1920240"/>
            <a:ext cx="1956816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504" y="2029968"/>
            <a:ext cx="181051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总体泛化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" y="2944368"/>
            <a:ext cx="1371600" cy="877824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3054096"/>
            <a:ext cx="122529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Stage 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65960" y="2944368"/>
            <a:ext cx="1664208" cy="877824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39112" y="3054096"/>
            <a:ext cx="1517904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1280 / 8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94176" y="2944368"/>
            <a:ext cx="2651760" cy="877824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054096"/>
            <a:ext cx="25054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同上 + lr0=2e-4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AdamW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46520" y="2944368"/>
            <a:ext cx="1371600" cy="877824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054096"/>
            <a:ext cx="122529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0.470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973568" y="2944368"/>
            <a:ext cx="1572768" cy="877824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3054096"/>
            <a:ext cx="1426464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0.251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674352" y="2944368"/>
            <a:ext cx="1956816" cy="877824"/>
          </a:xfrm>
          <a:prstGeom prst="rect">
            <a:avLst/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47504" y="3054096"/>
            <a:ext cx="181051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召回 / 严格定位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30352" y="3968496"/>
            <a:ext cx="1371600" cy="877824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4078224"/>
            <a:ext cx="122529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High-res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965960" y="3968496"/>
            <a:ext cx="1664208" cy="877824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39112" y="4078224"/>
            <a:ext cx="1517904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 / 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94176" y="3968496"/>
            <a:ext cx="2651760" cy="877824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7328" y="4078224"/>
            <a:ext cx="25054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Mosaic 0.10 + lr0=2e-4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AdamW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46520" y="3968496"/>
            <a:ext cx="1371600" cy="877824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9672" y="4078224"/>
            <a:ext cx="1225296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0.462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7973568" y="3968496"/>
            <a:ext cx="1572768" cy="877824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4078224"/>
            <a:ext cx="1426464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0.252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9674352" y="3968496"/>
            <a:ext cx="1956816" cy="877824"/>
          </a:xfrm>
          <a:prstGeom prst="rect">
            <a:avLst/>
          </a:prstGeom>
          <a:solidFill>
            <a:srgbClr val="FFF8E7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47504" y="4078224"/>
            <a:ext cx="1810512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定位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4944" y="5248656"/>
            <a:ext cx="10789920" cy="594360"/>
          </a:xfrm>
          <a:prstGeom prst="roundRect">
            <a:avLst>
              <a:gd name="adj" fmla="val 9231"/>
            </a:avLst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" y="5413248"/>
            <a:ext cx="102870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方案设置依据</a:t>
            </a:r>
            <a:r>
              <a:rPr lang="en-US" sz="13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：高分辨率需用更小 batch；学习率需随有效 batch 与增强强度共同看待。当前 2e-4 是比 1e-4 更可靠的起点。</a:t>
            </a:r>
            <a:endParaRPr lang="en-US" sz="13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六、2048 高分辨率：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提升 scratch 严格定位，代价是训练速度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原始 2048 图像直接输入，更有利于保留微小划痕细节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6002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23060"/>
            <a:ext cx="168249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质量 / 速度权衡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176272"/>
            <a:ext cx="1938528" cy="2606040"/>
          </a:xfrm>
          <a:prstGeom prst="roundRect">
            <a:avLst>
              <a:gd name="adj" fmla="val 2358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40864"/>
            <a:ext cx="166420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1280 代表配置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61488"/>
            <a:ext cx="1664208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batch=8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≈ 7.6–8.4 ms/图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74720"/>
            <a:ext cx="166420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mAP50-95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694176"/>
            <a:ext cx="1664208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0.248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4297680"/>
            <a:ext cx="1755648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mAP50-95  0.194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2176272"/>
            <a:ext cx="1938528" cy="2606040"/>
          </a:xfrm>
          <a:prstGeom prst="roundRect">
            <a:avLst>
              <a:gd name="adj" fmla="val 2358"/>
            </a:avLst>
          </a:prstGeom>
          <a:solidFill>
            <a:srgbClr val="EAF4FF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340864"/>
            <a:ext cx="166420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 代表配置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2761488"/>
            <a:ext cx="1664208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batch=2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19.3 ms/图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474720"/>
            <a:ext cx="166420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mAP50-95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694176"/>
            <a:ext cx="1664208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0.252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11880" y="4297680"/>
            <a:ext cx="1755648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mAP50-95  0.245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2784" y="1325880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160020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1623060"/>
            <a:ext cx="127101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本轮结论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01968" y="2258568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194560"/>
            <a:ext cx="4270248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mAP50 未超过 1280+Mosaic 路线，但 mAP50-95 达到当前最高 0.252。</a:t>
            </a:r>
            <a:endParaRPr 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6601968" y="317296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108960"/>
            <a:ext cx="4270248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mAP50-95 从 0.194 提升至 0.245，说明微小缺陷定位更受益。</a:t>
            </a:r>
            <a:endParaRPr lang="en-US" sz="1620" dirty="0"/>
          </a:p>
        </p:txBody>
      </p:sp>
      <p:sp>
        <p:nvSpPr>
          <p:cNvPr id="27" name="Shape 25"/>
          <p:cNvSpPr/>
          <p:nvPr/>
        </p:nvSpPr>
        <p:spPr>
          <a:xfrm>
            <a:off x="6601968" y="408736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023360"/>
            <a:ext cx="4270248" cy="7498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保留 2048 路线，专注错误分析、ROI 与后处理。</a:t>
            </a:r>
            <a:endParaRPr lang="en-US" sz="16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七、模型与优化器对比：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先统一协议，再比较结论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6473952" cy="4498848"/>
          </a:xfrm>
          <a:prstGeom prst="roundRect">
            <a:avLst>
              <a:gd name="adj" fmla="val 101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27632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50492"/>
            <a:ext cx="181965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 4 类验证协议下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1856232" cy="411480"/>
          </a:xfrm>
          <a:prstGeom prst="rect">
            <a:avLst/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249424"/>
            <a:ext cx="181965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2148840"/>
            <a:ext cx="1060704" cy="411480"/>
          </a:xfrm>
          <a:prstGeom prst="rect">
            <a:avLst/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2249424"/>
            <a:ext cx="102412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参数量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95344" y="2148840"/>
            <a:ext cx="832104" cy="411480"/>
          </a:xfrm>
          <a:prstGeom prst="rect">
            <a:avLst/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249424"/>
            <a:ext cx="795528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148840"/>
            <a:ext cx="1033272" cy="411480"/>
          </a:xfrm>
          <a:prstGeom prst="rect">
            <a:avLst/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249424"/>
            <a:ext cx="996696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mAP50-95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932688" cy="411480"/>
          </a:xfrm>
          <a:prstGeom prst="rect">
            <a:avLst/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2249424"/>
            <a:ext cx="89611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2560320"/>
            <a:ext cx="1856232" cy="640080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724912"/>
            <a:ext cx="180136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 AdamW-2048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88920" y="2560320"/>
            <a:ext cx="1060704" cy="640080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724912"/>
            <a:ext cx="10058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20.35M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95344" y="2560320"/>
            <a:ext cx="832104" cy="640080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22776" y="2724912"/>
            <a:ext cx="7772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0.462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800600" y="2560320"/>
            <a:ext cx="1033272" cy="640080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724912"/>
            <a:ext cx="97840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0.252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897880" y="2560320"/>
            <a:ext cx="932688" cy="640080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2724912"/>
            <a:ext cx="87782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19.3ms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3337560"/>
            <a:ext cx="1856232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3502152"/>
            <a:ext cx="180136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MuSGD-2048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88920" y="3337560"/>
            <a:ext cx="106070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3502152"/>
            <a:ext cx="10058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20.35M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895344" y="3337560"/>
            <a:ext cx="83210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22776" y="3502152"/>
            <a:ext cx="7772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0.459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4800600" y="3337560"/>
            <a:ext cx="1033272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502152"/>
            <a:ext cx="97840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0.248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897880" y="3337560"/>
            <a:ext cx="93268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3502152"/>
            <a:ext cx="87782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18.7ms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68680" y="4114800"/>
            <a:ext cx="1856232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279392"/>
            <a:ext cx="180136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师兄轻量模型*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788920" y="4114800"/>
            <a:ext cx="106070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6352" y="4279392"/>
            <a:ext cx="10058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2.38M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895344" y="4114800"/>
            <a:ext cx="832104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22776" y="4279392"/>
            <a:ext cx="7772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0.381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4800600" y="4114800"/>
            <a:ext cx="1033272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4279392"/>
            <a:ext cx="978408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0.180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897880" y="4114800"/>
            <a:ext cx="93268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5312" y="4279392"/>
            <a:ext cx="87782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5.6ms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32688" y="5074920"/>
            <a:ext cx="58064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* 仅作速度/规模参考：其权重为 3 类 YOLO11n，类别顺序与当前 4 类任务不同。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379208" y="1353312"/>
            <a:ext cx="4187952" cy="4498848"/>
          </a:xfrm>
          <a:prstGeom prst="roundRect">
            <a:avLst>
              <a:gd name="adj" fmla="val 1092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71816" y="1645920"/>
            <a:ext cx="1609344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44968" y="1668780"/>
            <a:ext cx="1463040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可得的结论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699248" y="2276856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2212848"/>
            <a:ext cx="3172968" cy="7863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MuSGD 没有超过 AdamW；小样本下其较高分类损失不利于收敛。</a:t>
            </a:r>
            <a:endParaRPr lang="en-US" sz="1620" dirty="0"/>
          </a:p>
        </p:txBody>
      </p:sp>
      <p:sp>
        <p:nvSpPr>
          <p:cNvPr id="54" name="Shape 52"/>
          <p:cNvSpPr/>
          <p:nvPr/>
        </p:nvSpPr>
        <p:spPr>
          <a:xfrm>
            <a:off x="7699248" y="3319272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0" y="3255264"/>
            <a:ext cx="3172968" cy="8229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轻量模型速度优势明确</a:t>
            </a:r>
            <a:r>
              <a:rPr lang="zh-CN" alt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r>
              <a:rPr lang="en-US" altLang="zh-CN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YOLO11n </a:t>
            </a:r>
            <a:r>
              <a:rPr lang="zh-CN" alt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级轻量模型</a:t>
            </a:r>
            <a:endParaRPr lang="zh-CN" altLang="en-US" sz="1620" dirty="0">
              <a:solidFill>
                <a:srgbClr val="1E35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699248" y="440740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4343400"/>
            <a:ext cx="3172968" cy="6217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下一步计划：</a:t>
            </a: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数据闭环与错误分析</a:t>
            </a:r>
            <a:r>
              <a:rPr lang="zh-CN" alt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立即修改网络结构。</a:t>
            </a:r>
            <a:endParaRPr lang="en-US" sz="162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八、从千级到万级：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增加有效信息，而非只增加文件数</a:t>
            </a:r>
            <a:endParaRPr lang="en-US" sz="2700" dirty="0"/>
          </a:p>
        </p:txBody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987552" y="1760220"/>
            <a:ext cx="245059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真实采集（优先）</a:t>
            </a:r>
            <a:endParaRPr lang="en-US" sz="1500" dirty="0"/>
          </a:p>
        </p:txBody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1701927" y="1337310"/>
            <a:ext cx="3063240" cy="4343400"/>
          </a:xfrm>
          <a:prstGeom prst="roundRect">
            <a:avLst>
              <a:gd name="adj" fmla="val 1791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3"/>
            </p:custDataLst>
          </p:nvPr>
        </p:nvSpPr>
        <p:spPr>
          <a:xfrm>
            <a:off x="1930527" y="1611630"/>
            <a:ext cx="2596896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2003679" y="1634490"/>
            <a:ext cx="245059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在线增强（辅助）</a:t>
            </a:r>
            <a:endParaRPr lang="en-US" sz="1500" dirty="0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1976247" y="2279142"/>
            <a:ext cx="2523744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每个 epoch 随机的几何、亮度、噪声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Mosaic 等可控扰动</a:t>
            </a:r>
            <a:endParaRPr lang="en-US" sz="1500" dirty="0"/>
          </a:p>
        </p:txBody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1994535" y="3220974"/>
            <a:ext cx="2478024" cy="0"/>
          </a:xfrm>
          <a:prstGeom prst="line">
            <a:avLst/>
          </a:prstGeom>
          <a:noFill/>
          <a:ln w="10160">
            <a:solidFill>
              <a:srgbClr val="7FA8D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1985391" y="3531870"/>
            <a:ext cx="2496312" cy="594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已在本项目验证有效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可降低对局部条件的依赖</a:t>
            </a:r>
            <a:endParaRPr lang="en-US" sz="1550" dirty="0"/>
          </a:p>
        </p:txBody>
      </p:sp>
      <p:sp>
        <p:nvSpPr>
          <p:cNvPr id="17" name="Shape 15"/>
          <p:cNvSpPr/>
          <p:nvPr>
            <p:custDataLst>
              <p:tags r:id="rId8"/>
            </p:custDataLst>
          </p:nvPr>
        </p:nvSpPr>
        <p:spPr>
          <a:xfrm>
            <a:off x="6649339" y="1337310"/>
            <a:ext cx="3063240" cy="4343400"/>
          </a:xfrm>
          <a:prstGeom prst="roundRect">
            <a:avLst>
              <a:gd name="adj" fmla="val 1791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6877939" y="1611630"/>
            <a:ext cx="2596896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0"/>
            </p:custDataLst>
          </p:nvPr>
        </p:nvSpPr>
        <p:spPr>
          <a:xfrm>
            <a:off x="6951091" y="1634490"/>
            <a:ext cx="245059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离线合成（谨慎）</a:t>
            </a:r>
            <a:endParaRPr lang="en-US" sz="1500" dirty="0"/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6923659" y="2279142"/>
            <a:ext cx="2523744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复制、粘贴、残差融合等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可能增文件，但未必增信息</a:t>
            </a:r>
            <a:endParaRPr lang="en-US" sz="1500" dirty="0"/>
          </a:p>
        </p:txBody>
      </p:sp>
      <p:sp>
        <p:nvSpPr>
          <p:cNvPr id="21" name="Shape 19"/>
          <p:cNvSpPr/>
          <p:nvPr>
            <p:custDataLst>
              <p:tags r:id="rId12"/>
            </p:custDataLst>
          </p:nvPr>
        </p:nvSpPr>
        <p:spPr>
          <a:xfrm>
            <a:off x="6941947" y="3220974"/>
            <a:ext cx="2478024" cy="0"/>
          </a:xfrm>
          <a:prstGeom prst="line">
            <a:avLst/>
          </a:prstGeom>
          <a:noFill/>
          <a:ln w="10160">
            <a:solidFill>
              <a:srgbClr val="7FA8D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>
            <p:custDataLst>
              <p:tags r:id="rId13"/>
            </p:custDataLst>
          </p:nvPr>
        </p:nvSpPr>
        <p:spPr>
          <a:xfrm>
            <a:off x="6932803" y="3531870"/>
            <a:ext cx="2496312" cy="594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可用于小范围消融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但不能替代真实数据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68096" y="5961888"/>
            <a:ext cx="10625328" cy="393192"/>
          </a:xfrm>
          <a:prstGeom prst="roundRect">
            <a:avLst>
              <a:gd name="adj" fmla="val 9302"/>
            </a:avLst>
          </a:prstGeom>
          <a:solidFill>
            <a:srgbClr val="153B78"/>
          </a:solidFill>
          <a:ln w="10160">
            <a:solidFill>
              <a:srgbClr val="153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6044184"/>
            <a:ext cx="1019556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建议的扩大目标：优先增加 scratch 的真实多样性，而不是把 78 个训练实例简单复制到“万级”。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九、后处理基线：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阈值改变部署取舍，不改变模型 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固定 2048 AdamW 最佳权重；验证集 133 张图像 / 850 个实例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66420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687068"/>
            <a:ext cx="149961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统一阈值扫描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212848"/>
            <a:ext cx="4434840" cy="5669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统一阈值 conf=0.25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是总体 F1 最均衡点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78992" y="31546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3246120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144" y="3438144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0.509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24912" y="31546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3246120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98064" y="3438144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0.509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70832" y="315468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3246120"/>
            <a:ext cx="1335024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3984" y="3438144"/>
            <a:ext cx="1335024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4160520"/>
            <a:ext cx="4434840" cy="29260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TP / FP / FN = 433 / 418 / 417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36208" y="1371600"/>
            <a:ext cx="5340096" cy="4480560"/>
          </a:xfrm>
          <a:prstGeom prst="roundRect">
            <a:avLst>
              <a:gd name="adj" fmla="val 1224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1664208"/>
            <a:ext cx="1389888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1687068"/>
            <a:ext cx="1243584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诊断校验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2304288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240280"/>
            <a:ext cx="4270248" cy="594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脚本已兼容检测框和多边形真值；此前 TP=0 的统计误读已修正。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6583680" y="3191256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3127248"/>
            <a:ext cx="4270248" cy="5303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该基线仅反映部署取舍，不改变训练阶段 mAP50 / mAP50-95。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6583680" y="399592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3931920"/>
            <a:ext cx="4270248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后续方案均以此比较 TP、FP、FN、P、R、F1。</a:t>
            </a:r>
            <a:endParaRPr lang="en-US" sz="16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十、分类别阈值：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误检减少 60 个，但整体增益有限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分类别阈值：chipping=0.30，scratch=0.15，splash=0.30，spot=0.25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517904"/>
            <a:ext cx="1993392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27632"/>
            <a:ext cx="1956816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策略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16352" y="1517904"/>
            <a:ext cx="1207008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27632"/>
            <a:ext cx="1170432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1517904"/>
            <a:ext cx="1207008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8808" y="1627632"/>
            <a:ext cx="1170432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04688" y="1517904"/>
            <a:ext cx="1207008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2976" y="1627632"/>
            <a:ext cx="1170432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39712" y="1517904"/>
            <a:ext cx="1024128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27632"/>
            <a:ext cx="987552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28432" y="1517904"/>
            <a:ext cx="1024128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627632"/>
            <a:ext cx="987552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17152" y="1517904"/>
            <a:ext cx="1024128" cy="438912"/>
          </a:xfrm>
          <a:prstGeom prst="roundRect">
            <a:avLst>
              <a:gd name="adj" fmla="val 4167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627632"/>
            <a:ext cx="987552" cy="17373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" y="1993392"/>
            <a:ext cx="19933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2157984"/>
            <a:ext cx="1938528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统一阈值 conf=0.25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16352" y="1993392"/>
            <a:ext cx="12070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43784" y="2157984"/>
            <a:ext cx="115214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60520" y="1993392"/>
            <a:ext cx="12070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157984"/>
            <a:ext cx="115214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504688" y="1993392"/>
            <a:ext cx="120700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157984"/>
            <a:ext cx="115214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39712" y="1993392"/>
            <a:ext cx="102412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2157984"/>
            <a:ext cx="96926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433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28432" y="1993392"/>
            <a:ext cx="102412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55864" y="2157984"/>
            <a:ext cx="96926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418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17152" y="1993392"/>
            <a:ext cx="102412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4584" y="2157984"/>
            <a:ext cx="96926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417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4944" y="2798064"/>
            <a:ext cx="1993392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" y="2962656"/>
            <a:ext cx="1938528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分类别阈值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816352" y="2798064"/>
            <a:ext cx="1207008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3784" y="2962656"/>
            <a:ext cx="115214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0.537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160520" y="2798064"/>
            <a:ext cx="1207008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87952" y="2962656"/>
            <a:ext cx="115214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0.488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504688" y="2798064"/>
            <a:ext cx="1207008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962656"/>
            <a:ext cx="115214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0.511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839712" y="2798064"/>
            <a:ext cx="1024128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67144" y="2962656"/>
            <a:ext cx="96926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415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028432" y="2798064"/>
            <a:ext cx="1024128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55864" y="2962656"/>
            <a:ext cx="96926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358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217152" y="2798064"/>
            <a:ext cx="1024128" cy="621792"/>
          </a:xfrm>
          <a:prstGeom prst="rect">
            <a:avLst/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44584" y="2962656"/>
            <a:ext cx="969264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435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41248" y="3886200"/>
            <a:ext cx="10479024" cy="1252728"/>
          </a:xfrm>
          <a:prstGeom prst="roundRect">
            <a:avLst>
              <a:gd name="adj" fmla="val 4380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4712" y="416052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97864" y="4183380"/>
            <a:ext cx="122529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如何理解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2779776" y="4151376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35808" y="4087368"/>
            <a:ext cx="7744968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分类别阈值使 Precision 从 0.509 提升至 0.537，FP 从 418 降至 358。</a:t>
            </a:r>
            <a:endParaRPr lang="en-US" sz="1620" dirty="0"/>
          </a:p>
        </p:txBody>
      </p:sp>
      <p:sp>
        <p:nvSpPr>
          <p:cNvPr id="52" name="Shape 50"/>
          <p:cNvSpPr/>
          <p:nvPr/>
        </p:nvSpPr>
        <p:spPr>
          <a:xfrm>
            <a:off x="2779776" y="4681728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35808" y="4617720"/>
            <a:ext cx="7744968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同时 Recall 从 0.509 降至 0.488，F1 仅从 0.509 微升至 0.511。</a:t>
            </a:r>
            <a:endParaRPr lang="en-US" sz="1620" dirty="0"/>
          </a:p>
        </p:txBody>
      </p:sp>
      <p:sp>
        <p:nvSpPr>
          <p:cNvPr id="54" name="Text 52"/>
          <p:cNvSpPr/>
          <p:nvPr/>
        </p:nvSpPr>
        <p:spPr>
          <a:xfrm>
            <a:off x="1143000" y="5596128"/>
            <a:ext cx="9921240" cy="23774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结论：可作为“更少误检”的部署候选，但不应被解读为模型能力的显著突破。</a:t>
            </a:r>
            <a:endParaRPr lang="en-US" sz="15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十一、NMS IoU 消融：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0.50–0.70 区间不敏感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保持分类别阈值不变，仅改变 NMS IoU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03784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093976"/>
            <a:ext cx="192024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NMS IoU = 0.50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56432" y="2093976"/>
            <a:ext cx="1536192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Precision 0.537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40096" y="2093976"/>
            <a:ext cx="138988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 0.488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68312" y="2093976"/>
            <a:ext cx="11887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 0.511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4192" y="2093976"/>
            <a:ext cx="257860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TP / FP / FN = 415 / 358 / 435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1037844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099816"/>
            <a:ext cx="192024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NMS IoU = 0.60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3099816"/>
            <a:ext cx="1536192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Precision 0.537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0096" y="3099816"/>
            <a:ext cx="138988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 0.488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3099816"/>
            <a:ext cx="11887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 0.511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3099816"/>
            <a:ext cx="257860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TP / FP / FN = 415 / 358 / 435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10378440" cy="694944"/>
          </a:xfrm>
          <a:prstGeom prst="roundRect">
            <a:avLst>
              <a:gd name="adj" fmla="val 6579"/>
            </a:avLst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105656"/>
            <a:ext cx="192024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NMS IoU = 0.70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56432" y="4105656"/>
            <a:ext cx="1536192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Precision 0.537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0096" y="4105656"/>
            <a:ext cx="138988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 0.488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68312" y="4105656"/>
            <a:ext cx="118872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 0.511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94192" y="4105656"/>
            <a:ext cx="2578608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TP / FP / FN = 415 / 358 / 435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2688" y="5056632"/>
            <a:ext cx="10287000" cy="566928"/>
          </a:xfrm>
          <a:prstGeom prst="roundRect">
            <a:avLst>
              <a:gd name="adj" fmla="val 8065"/>
            </a:avLst>
          </a:prstGeom>
          <a:solidFill>
            <a:srgbClr val="153B78"/>
          </a:solidFill>
          <a:ln w="10160">
            <a:solidFill>
              <a:srgbClr val="153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212080"/>
            <a:ext cx="987552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结论：当前误检并非主要来自重叠框重复检出；保留默认 iou=0.70，并停止继续扫描 NMS。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57200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十二、下一阶段计划：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37760" y="128016"/>
            <a:ext cx="65836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先做错误闭环，再做算法改进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02336" y="868680"/>
            <a:ext cx="11064240" cy="2468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目标：以可解释、可复现的方式提升真正部署性能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21792" y="1600200"/>
            <a:ext cx="2450592" cy="3520440"/>
          </a:xfrm>
          <a:prstGeom prst="roundRect">
            <a:avLst>
              <a:gd name="adj" fmla="val 2239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472184" y="1920240"/>
            <a:ext cx="694944" cy="694944"/>
          </a:xfrm>
          <a:prstGeom prst="ellipse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472184" y="2039112"/>
            <a:ext cx="694944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50392" y="2834640"/>
            <a:ext cx="19933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复核标签与错误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50392" y="3419856"/>
            <a:ext cx="1993392" cy="8686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检查漏标、框/多边形边界、类别混淆；按 scratch/反光/边缘单独归档。</a:t>
            </a:r>
            <a:endParaRPr lang="en-US" sz="142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136392" y="3136392"/>
            <a:ext cx="274320" cy="310896"/>
          </a:xfrm>
          <a:prstGeom prst="rightArrow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474720" y="1600200"/>
            <a:ext cx="2450592" cy="3520440"/>
          </a:xfrm>
          <a:prstGeom prst="roundRect">
            <a:avLst>
              <a:gd name="adj" fmla="val 2239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325112" y="1920240"/>
            <a:ext cx="694944" cy="694944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325112" y="2039112"/>
            <a:ext cx="694944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703320" y="2834640"/>
            <a:ext cx="19933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部署阈值与 ROI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3703320" y="3419856"/>
            <a:ext cx="1993392" cy="8686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使用 2048 最优权重扫描置信度阈值；必要时先定位工件 ROI 再检测。</a:t>
            </a:r>
            <a:endParaRPr lang="en-US" sz="1420" dirty="0"/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5989320" y="3136392"/>
            <a:ext cx="274320" cy="310896"/>
          </a:xfrm>
          <a:prstGeom prst="rightArrow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327648" y="1600200"/>
            <a:ext cx="2450592" cy="3520440"/>
          </a:xfrm>
          <a:prstGeom prst="roundRect">
            <a:avLst>
              <a:gd name="adj" fmla="val 2239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7178040" y="1920240"/>
            <a:ext cx="694944" cy="694944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7178040" y="2039112"/>
            <a:ext cx="694944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6556248" y="2834640"/>
            <a:ext cx="19933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补数据</a:t>
            </a:r>
            <a:endParaRPr lang="en-US" sz="180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6556248" y="3419856"/>
            <a:ext cx="1993392" cy="8686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按工件、批次、照明、反光、位置与缺陷程度建立采集清单；scratch 优先。</a:t>
            </a:r>
            <a:endParaRPr lang="en-US" sz="1420" dirty="0"/>
          </a:p>
        </p:txBody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8842248" y="3136392"/>
            <a:ext cx="274320" cy="310896"/>
          </a:xfrm>
          <a:prstGeom prst="rightArrow">
            <a:avLst/>
          </a:prstGeom>
          <a:solidFill>
            <a:srgbClr val="F6B322"/>
          </a:solidFill>
          <a:ln w="12700">
            <a:solidFill>
              <a:srgbClr val="F6B322"/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9180576" y="1600200"/>
            <a:ext cx="2450592" cy="3520440"/>
          </a:xfrm>
          <a:prstGeom prst="roundRect">
            <a:avLst>
              <a:gd name="adj" fmla="val 2239"/>
            </a:avLst>
          </a:prstGeom>
          <a:solidFill>
            <a:srgbClr val="F8FBFE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10030968" y="1920240"/>
            <a:ext cx="694944" cy="694944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10030968" y="2039112"/>
            <a:ext cx="694944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9409176" y="2834640"/>
            <a:ext cx="1993392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统一协议后改模型</a:t>
            </a:r>
            <a:endParaRPr lang="en-US" sz="1800" dirty="0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9409176" y="3419856"/>
            <a:ext cx="1993392" cy="8686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C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在统一 4 类 / 2048 / 同一验证集下再比较 YOLO11n、YOLO26m 或结构改进。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804672" y="5532120"/>
            <a:ext cx="10561320" cy="45720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641848"/>
            <a:ext cx="1014984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下一次汇报建议展示：错误样本册 + 阈值曲线 + 新增真实样本来源表 + 统一对比表。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89204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十三、阶段结论与确认事项：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85232" y="128016"/>
            <a:ext cx="6355080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把实验从“调参”转向“数据闭环”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495" y="1353185"/>
            <a:ext cx="11007090" cy="447294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0160">
            <a:solidFill>
              <a:srgbClr val="7FA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636776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2D64AA"/>
          </a:solidFill>
          <a:ln w="10160">
            <a:solidFill>
              <a:srgbClr val="2D6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59636"/>
            <a:ext cx="1271016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阶段结论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7552" y="2286000"/>
            <a:ext cx="164592" cy="164592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330" y="2221865"/>
            <a:ext cx="9658350" cy="48450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当前总体最佳 mAP50：1280 + 几何/低 HSV + Mosaic 0.10，达到 0.483。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987552" y="3008376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330" y="2944495"/>
            <a:ext cx="9953625" cy="48450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当前严格定位最佳：2048 + AdamW + lr0=2e-4 + Mosaic 0.10，mAP50-95 = 0.252。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987552" y="3739896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330" y="3676015"/>
            <a:ext cx="9613900" cy="6584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 仍受真实样本稀缺制约；在线增强有帮助，但不能替代跨条件的真实采集。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987552" y="4690872"/>
            <a:ext cx="164592" cy="164592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4626864"/>
            <a:ext cx="5733288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算法结构改进应建立在统一数据协议与错误样本归因之后。</a:t>
            </a:r>
            <a:endParaRPr lang="en-US" sz="1620" dirty="0"/>
          </a:p>
        </p:txBody>
      </p:sp>
      <p:sp>
        <p:nvSpPr>
          <p:cNvPr id="21" name="Text 19"/>
          <p:cNvSpPr/>
          <p:nvPr/>
        </p:nvSpPr>
        <p:spPr>
          <a:xfrm>
            <a:off x="749808" y="6089904"/>
            <a:ext cx="182880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6B3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谢谢！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481832" y="5186045"/>
            <a:ext cx="3017520" cy="5943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是否以 scratch 的真实覆盖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E3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作为下一阶段主要指标？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2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3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4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5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6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7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8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9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10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11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12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13.xml><?xml version="1.0" encoding="utf-8"?>
<p:tagLst xmlns:p="http://schemas.openxmlformats.org/presentationml/2006/main">
  <p:tag name="KSO_WM_DIAGRAM_VIRTUALLY_FRAME" val="{&quot;height&quot;:342,&quot;left&quot;:54,&quot;top&quot;:115.2,&quot;width&quot;:778.32}"/>
</p:tagLst>
</file>

<file path=ppt/tags/tag14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15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16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17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18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19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0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1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2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3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4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5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6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7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8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29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0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1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2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3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4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5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ags/tag36.xml><?xml version="1.0" encoding="utf-8"?>
<p:tagLst xmlns:p="http://schemas.openxmlformats.org/presentationml/2006/main">
  <p:tag name="KSO_WM_DIAGRAM_VIRTUALLY_FRAME" val="{&quot;height&quot;:277.2,&quot;left&quot;:48.959999999999994,&quot;top&quot;:126,&quot;width&quot;:866.8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4656</Words>
  <Application>WPS 演示</Application>
  <PresentationFormat>On-screen Show (16:9)</PresentationFormat>
  <Paragraphs>754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YOLO26 Defect Detection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YOLO26表面瑕疵检测实验周汇报</dc:title>
  <dc:creator>Codex</dc:creator>
  <dc:subject>YOLO26 surface defect detection weekly report</dc:subject>
  <cp:lastModifiedBy>顾阜</cp:lastModifiedBy>
  <cp:revision>6</cp:revision>
  <dcterms:created xsi:type="dcterms:W3CDTF">2026-08-03T11:42:00Z</dcterms:created>
  <dcterms:modified xsi:type="dcterms:W3CDTF">2026-08-03T13:48:30Z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93256A2DA4A34DB6BCB5CEFE9245DA21_12</vt:lpwstr>
  </property>
  <property fmtid="{D5CDD505-2E9C-101B-9397-08002B2CF9AE}" pid="3" name="KSOProductBuildVer">
    <vt:lpwstr>2052-12.1.0.28043</vt:lpwstr>
  </property>
</Properties>
</file>