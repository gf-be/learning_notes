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1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experiment logs and user-provided training/validation screenshots,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experiment progress records and current error-analysis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dataset statistics from current train/val labels and training evaluation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Training-set P/R from user-provided best.pt evaluation screenshot; validation P/R from current 2048 AdamW experiment log supplied by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confusion_matrix.png from current best.pt evaluation on the training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fixed-validation threshold scan and FN/FP export results supplied by user,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FN/FP export pipeline and manual-review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PR_curve.png and F1_curve.png generated by current best.pt training-set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Conclusions synthesized from internal experiment and error-analysis results shown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53B78"/>
          </a:solidFill>
          <a:ln w="12700">
            <a:solidFill>
              <a:srgbClr val="153B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528816"/>
            <a:ext cx="11539728" cy="0"/>
          </a:xfrm>
          <a:prstGeom prst="line">
            <a:avLst/>
          </a:prstGeom>
          <a:noFill/>
          <a:ln w="7620">
            <a:solidFill>
              <a:srgbClr val="BDD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583680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YOLO表面瑕疵检测｜本周实验与错误诊断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80192" y="6583680"/>
            <a:ext cx="960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2026.08.10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153B78"/>
          </a:solidFill>
          <a:ln w="12700">
            <a:solidFill>
              <a:srgbClr val="153B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09344"/>
            <a:ext cx="12191695" cy="91440"/>
          </a:xfrm>
          <a:prstGeom prst="rect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057400"/>
            <a:ext cx="7315200" cy="43891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YOLO 表面瑕疵检测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94360" y="2633472"/>
            <a:ext cx="7863840" cy="51206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本周实验进展与错误诊断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03504" y="4160520"/>
            <a:ext cx="751636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4407408"/>
            <a:ext cx="7040880" cy="47548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本周核心结论：当前模型的主要问题不仅是验证集泛化差距；scratch 在训练集上仍显著漏检，splash 与 spot 存在较多误检。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900000">
            <a:off x="8668512" y="1965960"/>
            <a:ext cx="2606040" cy="2606040"/>
          </a:xfrm>
          <a:prstGeom prst="arc">
            <a:avLst/>
          </a:prstGeom>
          <a:noFill/>
          <a:ln w="101600">
            <a:solidFill>
              <a:srgbClr val="4C82C3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1400000">
            <a:off x="9034272" y="2322576"/>
            <a:ext cx="1874520" cy="1874520"/>
          </a:xfrm>
          <a:prstGeom prst="arc">
            <a:avLst/>
          </a:prstGeom>
          <a:noFill/>
          <a:ln w="50800">
            <a:solidFill>
              <a:srgbClr val="F4B4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19488" y="2880360"/>
            <a:ext cx="713232" cy="713232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22792" y="4892040"/>
            <a:ext cx="2743200" cy="56692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四类瑕疵检测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训练—诊断—优化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一、本周工作：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从参数尝试收敛到误差诊断</a:t>
            </a:r>
            <a:endParaRPr lang="en-US" sz="25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58368" y="1572768"/>
            <a:ext cx="2304288" cy="3520440"/>
          </a:xfrm>
          <a:prstGeom prst="roundRect">
            <a:avLst>
              <a:gd name="adj" fmla="val 2381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490472" y="1865376"/>
            <a:ext cx="640080" cy="640080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490472" y="2011680"/>
            <a:ext cx="640080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822960" y="2706624"/>
            <a:ext cx="197510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训练策略对比</a:t>
            </a:r>
            <a:endParaRPr lang="en-US" sz="17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32104" y="3300984"/>
            <a:ext cx="1956816" cy="69494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离线增强、在线增强、分辨率、学习率、优化器与 Mosaic 组合对比</a:t>
            </a:r>
            <a:endParaRPr lang="en-US" sz="135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511296" y="1572768"/>
            <a:ext cx="2304288" cy="3520440"/>
          </a:xfrm>
          <a:prstGeom prst="roundRect">
            <a:avLst>
              <a:gd name="adj" fmla="val 2381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343400" y="1865376"/>
            <a:ext cx="640080" cy="640080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343400" y="2011680"/>
            <a:ext cx="640080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675888" y="2706624"/>
            <a:ext cx="197510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结构验证</a:t>
            </a:r>
            <a:endParaRPr lang="en-US" sz="17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685032" y="3300984"/>
            <a:ext cx="1956816" cy="69494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复现师兄的多尺度边缘信息增强轻量模型，并完成独立验证</a:t>
            </a:r>
            <a:endParaRPr lang="en-US" sz="135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6364224" y="1572768"/>
            <a:ext cx="2304288" cy="3520440"/>
          </a:xfrm>
          <a:prstGeom prst="roundRect">
            <a:avLst>
              <a:gd name="adj" fmla="val 2381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7196328" y="1865376"/>
            <a:ext cx="640080" cy="640080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7196328" y="2011680"/>
            <a:ext cx="640080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528816" y="2706624"/>
            <a:ext cx="197510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后处理实验</a:t>
            </a:r>
            <a:endParaRPr lang="en-US" sz="17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537960" y="3300984"/>
            <a:ext cx="1956816" cy="69494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完成统一阈值、分类别阈值和 NMS IoU 对比</a:t>
            </a:r>
            <a:endParaRPr lang="en-US" sz="135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9217152" y="1572768"/>
            <a:ext cx="2304288" cy="3520440"/>
          </a:xfrm>
          <a:prstGeom prst="roundRect">
            <a:avLst>
              <a:gd name="adj" fmla="val 2381"/>
            </a:avLst>
          </a:prstGeom>
          <a:solidFill>
            <a:srgbClr val="EAF4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10049256" y="1865376"/>
            <a:ext cx="640080" cy="640080"/>
          </a:xfrm>
          <a:prstGeom prst="ellipse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0049256" y="2011680"/>
            <a:ext cx="640080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9381744" y="2706624"/>
            <a:ext cx="197510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误差闭环</a:t>
            </a:r>
            <a:endParaRPr lang="en-US" sz="17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9390888" y="3300984"/>
            <a:ext cx="1956816" cy="69494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 P/R、混淆矩阵、PR/F1 曲线；开始导出 FN/FP 样本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1520" y="5522976"/>
            <a:ext cx="10716768" cy="438912"/>
          </a:xfrm>
          <a:prstGeom prst="roundRect">
            <a:avLst>
              <a:gd name="adj" fmla="val 8333"/>
            </a:avLst>
          </a:prstGeom>
          <a:solidFill>
            <a:srgbClr val="153B78"/>
          </a:solidFill>
          <a:ln w="8890">
            <a:solidFill>
              <a:srgbClr val="153B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641848"/>
            <a:ext cx="10222992" cy="1554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本周问题转向：模型为什么在已见过的训练图像上仍然漏检和误检？这决定下一步优先调参、改模型，还是补充真实数据。</a:t>
            </a:r>
            <a:endParaRPr lang="en-US" sz="13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二、评估基础：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固定验证集，训练集仅用于诊断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93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184708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训练集图像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731520" y="1700784"/>
            <a:ext cx="1847088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532 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20824"/>
            <a:ext cx="1847088" cy="12801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4,733 个瑕疵实例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862072" y="1417320"/>
            <a:ext cx="1993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5224" y="1499616"/>
            <a:ext cx="184708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验证集图像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2935224" y="1700784"/>
            <a:ext cx="1847088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133 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35224" y="2020824"/>
            <a:ext cx="1847088" cy="12801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850 个瑕疵实例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065776" y="1417320"/>
            <a:ext cx="1993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499616"/>
            <a:ext cx="184708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 scratch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5138928" y="1700784"/>
            <a:ext cx="1847088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49 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38928" y="2020824"/>
            <a:ext cx="1847088" cy="12801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78 个实例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269480" y="1417320"/>
            <a:ext cx="1993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1499616"/>
            <a:ext cx="184708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验证集 scratch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7342632" y="1700784"/>
            <a:ext cx="1847088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 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42632" y="2020824"/>
            <a:ext cx="1847088" cy="12801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 个实例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9473184" y="1417320"/>
            <a:ext cx="19933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6336" y="1499616"/>
            <a:ext cx="184708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当前评估尺寸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9546336" y="1700784"/>
            <a:ext cx="1847088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C9C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546336" y="2020824"/>
            <a:ext cx="1847088" cy="12801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与 best.pt 一致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85800" y="2761488"/>
            <a:ext cx="5093208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" y="3063240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" y="3118104"/>
            <a:ext cx="148132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如何使用两套结果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14984" y="3730752"/>
            <a:ext cx="164592" cy="146304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71016" y="3657600"/>
            <a:ext cx="4169664" cy="47548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验证集：选择 best.pt、比较不同训练实验、报告模型泛化性能。</a:t>
            </a:r>
            <a:endParaRPr lang="en-US" sz="1410" dirty="0"/>
          </a:p>
        </p:txBody>
      </p:sp>
      <p:sp>
        <p:nvSpPr>
          <p:cNvPr id="30" name="Shape 28"/>
          <p:cNvSpPr/>
          <p:nvPr/>
        </p:nvSpPr>
        <p:spPr>
          <a:xfrm>
            <a:off x="1014984" y="4480560"/>
            <a:ext cx="164592" cy="146304"/>
          </a:xfrm>
          <a:prstGeom prst="chevron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71016" y="4407408"/>
            <a:ext cx="4169664" cy="47548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训练集：判断模型是否已学到样本，用于定位欠拟合、过拟合和类别难点。</a:t>
            </a:r>
            <a:endParaRPr lang="en-US" sz="1410" dirty="0"/>
          </a:p>
        </p:txBody>
      </p:sp>
      <p:sp>
        <p:nvSpPr>
          <p:cNvPr id="32" name="Shape 30"/>
          <p:cNvSpPr/>
          <p:nvPr/>
        </p:nvSpPr>
        <p:spPr>
          <a:xfrm>
            <a:off x="6089904" y="2761488"/>
            <a:ext cx="5413248" cy="2633472"/>
          </a:xfrm>
          <a:prstGeom prst="roundRect">
            <a:avLst>
              <a:gd name="adj" fmla="val 2083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73368" y="3063240"/>
            <a:ext cx="1572768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3118104"/>
            <a:ext cx="148132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当前判断准则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19088" y="3730752"/>
            <a:ext cx="164592" cy="146304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657600"/>
            <a:ext cx="4425696" cy="47548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训练集、验证集 P/R 都低：优先排查样本、标签与类别可分性。</a:t>
            </a:r>
            <a:endParaRPr lang="en-US" sz="1410" dirty="0"/>
          </a:p>
        </p:txBody>
      </p:sp>
      <p:sp>
        <p:nvSpPr>
          <p:cNvPr id="37" name="Shape 35"/>
          <p:cNvSpPr/>
          <p:nvPr/>
        </p:nvSpPr>
        <p:spPr>
          <a:xfrm>
            <a:off x="6419088" y="4480560"/>
            <a:ext cx="164592" cy="146304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4407408"/>
            <a:ext cx="4425696" cy="47548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训练集高、验证集低：才主要指向过拟合或数据分布覆盖不足。</a:t>
            </a:r>
            <a:endParaRPr lang="en-US" sz="1410" dirty="0"/>
          </a:p>
        </p:txBody>
      </p:sp>
      <p:sp>
        <p:nvSpPr>
          <p:cNvPr id="39" name="Text 37"/>
          <p:cNvSpPr/>
          <p:nvPr/>
        </p:nvSpPr>
        <p:spPr>
          <a:xfrm>
            <a:off x="822960" y="5760720"/>
            <a:ext cx="10625328" cy="22860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注：scratch 验证集只有 20 个实例，漏检 1 个即带来 5 个百分点 Recall 波动；因此必须结合 FN 图像人工判断。</a:t>
            </a:r>
            <a:endParaRPr lang="en-US" sz="136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三、训练集与验证集：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存在泛化差距，但训练集本身也未学充分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064240" cy="19202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 2048 best.pt：训练集评估用于诊断；固定验证集结果用于模型比较。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7479792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00200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55064"/>
            <a:ext cx="1417320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四类 P / R 对比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" y="2084832"/>
            <a:ext cx="128016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30552"/>
            <a:ext cx="124358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56155" y="2084832"/>
            <a:ext cx="96012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4443" y="2130552"/>
            <a:ext cx="92354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 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2734" y="2084832"/>
            <a:ext cx="96012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1022" y="2130552"/>
            <a:ext cx="92354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 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09314" y="2084832"/>
            <a:ext cx="96012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7602" y="2130552"/>
            <a:ext cx="92354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 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85893" y="2084832"/>
            <a:ext cx="96012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4181" y="2130552"/>
            <a:ext cx="92354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验证 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62472" y="2084832"/>
            <a:ext cx="219456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130552"/>
            <a:ext cx="215798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" y="2485339"/>
            <a:ext cx="12801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2540203"/>
            <a:ext cx="12435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56155" y="2485339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4443" y="2540203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.623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32734" y="2485339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1022" y="2540203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.614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09314" y="2485339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27602" y="2540203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.528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85893" y="2485339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4181" y="2540203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.478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62472" y="2485339"/>
            <a:ext cx="2194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540203"/>
            <a:ext cx="21579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 +.095 / R +.136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" y="3023006"/>
            <a:ext cx="128016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077870"/>
            <a:ext cx="12435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56155" y="3023006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4443" y="3077870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.629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132734" y="3023006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1022" y="3077870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.779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09314" y="3023006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27602" y="3077870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.475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85893" y="3023006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4181" y="3077870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.577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62472" y="3023006"/>
            <a:ext cx="219456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077870"/>
            <a:ext cx="21579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 差距最大：+.202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9536" y="3560674"/>
            <a:ext cx="12801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" y="3615538"/>
            <a:ext cx="12435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56155" y="3560674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74443" y="3615538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.757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132734" y="3560674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51022" y="3615538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.487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109314" y="3560674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27602" y="3615538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.680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085893" y="3560674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04181" y="3615538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.320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062472" y="3560674"/>
            <a:ext cx="2194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3615538"/>
            <a:ext cx="21579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训练集仍漏检过半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59536" y="4098341"/>
            <a:ext cx="128016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7824" y="4153205"/>
            <a:ext cx="12435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156155" y="4098341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74443" y="4153205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.532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132734" y="4098341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51022" y="4153205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.602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109314" y="4098341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27602" y="4153205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.496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085893" y="4098341"/>
            <a:ext cx="96012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04181" y="4153205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.577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062472" y="4098341"/>
            <a:ext cx="2194560" cy="521208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80760" y="4153205"/>
            <a:ext cx="21579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 P 也偏低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9536" y="4636008"/>
            <a:ext cx="12801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7824" y="4690872"/>
            <a:ext cx="12435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spot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156155" y="4636008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74443" y="4690872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.575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32734" y="4636008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51022" y="4690872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.589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109314" y="4636008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27602" y="4690872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.460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085893" y="4636008"/>
            <a:ext cx="96012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04181" y="4690872"/>
            <a:ext cx="92354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.444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062472" y="4636008"/>
            <a:ext cx="2194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80760" y="4690872"/>
            <a:ext cx="2157984" cy="4297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误检与漏检并存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449056" y="1325880"/>
            <a:ext cx="3090672" cy="4526280"/>
          </a:xfrm>
          <a:prstGeom prst="roundRect">
            <a:avLst>
              <a:gd name="adj" fmla="val 1775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1600200"/>
            <a:ext cx="1216152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78240" y="1655064"/>
            <a:ext cx="1124712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本页结论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741664" y="2286000"/>
            <a:ext cx="164592" cy="146304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997696" y="2212848"/>
            <a:ext cx="2194560" cy="69494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不是单纯“过拟合”。训练集总体 P/R 仅 0.623/0.614。</a:t>
            </a:r>
            <a:endParaRPr lang="en-US" sz="1410" dirty="0"/>
          </a:p>
        </p:txBody>
      </p:sp>
      <p:sp>
        <p:nvSpPr>
          <p:cNvPr id="85" name="Shape 83"/>
          <p:cNvSpPr/>
          <p:nvPr/>
        </p:nvSpPr>
        <p:spPr>
          <a:xfrm>
            <a:off x="8741664" y="3273552"/>
            <a:ext cx="164592" cy="146304"/>
          </a:xfrm>
          <a:prstGeom prst="chevron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97696" y="3200400"/>
            <a:ext cx="2194560" cy="7315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scratch：训练集 R=0.487，说明模型没有稳定学到划痕。</a:t>
            </a:r>
            <a:endParaRPr lang="en-US" sz="1410" dirty="0"/>
          </a:p>
        </p:txBody>
      </p:sp>
      <p:sp>
        <p:nvSpPr>
          <p:cNvPr id="87" name="Shape 85"/>
          <p:cNvSpPr/>
          <p:nvPr/>
        </p:nvSpPr>
        <p:spPr>
          <a:xfrm>
            <a:off x="8741664" y="4306824"/>
            <a:ext cx="164592" cy="146304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97696" y="4233672"/>
            <a:ext cx="2194560" cy="68580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splash：训练集 P=0.532，需重点检查误检来源与标签边界。</a:t>
            </a:r>
            <a:endParaRPr lang="en-US" sz="1410" dirty="0"/>
          </a:p>
        </p:txBody>
      </p: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四、混淆矩阵：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首要问题是漏检与背景误检，而非类别混淆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064240" cy="19202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矩阵来自当前 best.pt 在训练集上的评估；对角线为正确检测。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225296"/>
            <a:ext cx="5806440" cy="5010912"/>
          </a:xfrm>
          <a:prstGeom prst="roundRect">
            <a:avLst>
              <a:gd name="adj" fmla="val 1095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81328"/>
            <a:ext cx="5303520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混淆矩阵关键计数（训练集）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1956816"/>
            <a:ext cx="169164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002536"/>
            <a:ext cx="165506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预测 / 真实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9347" y="1956816"/>
            <a:ext cx="91440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7635" y="2002536"/>
            <a:ext cx="87782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80206" y="1956816"/>
            <a:ext cx="91440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8494" y="2002536"/>
            <a:ext cx="87782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1066" y="1956816"/>
            <a:ext cx="91440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9354" y="2002536"/>
            <a:ext cx="87782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1925" y="1956816"/>
            <a:ext cx="91440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0213" y="2002536"/>
            <a:ext cx="87782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spot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" y="2320747"/>
            <a:ext cx="16916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375611"/>
            <a:ext cx="165506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正确检测（对角线）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49347" y="2320747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7635" y="2375611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783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80206" y="2320747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8494" y="2375611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11066" y="2320747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9354" y="2375611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1099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41925" y="2320747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60213" y="2375611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981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" y="2757830"/>
            <a:ext cx="169164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2812694"/>
            <a:ext cx="165506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漏检 FN（预测为背景）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49347" y="2757830"/>
            <a:ext cx="91440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7635" y="2812694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223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80206" y="2757830"/>
            <a:ext cx="91440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8494" y="2812694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11066" y="2757830"/>
            <a:ext cx="91440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9354" y="2812694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744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41925" y="2757830"/>
            <a:ext cx="91440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60213" y="2812694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596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1248" y="3194914"/>
            <a:ext cx="16916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" y="3249778"/>
            <a:ext cx="165506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背景误检 FP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549347" y="3194914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7635" y="3249778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382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480206" y="3194914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8494" y="3249778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411066" y="3194914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9354" y="3249778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687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341925" y="3194914"/>
            <a:ext cx="9144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60213" y="3249778"/>
            <a:ext cx="87782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667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702552" y="1316736"/>
            <a:ext cx="4846320" cy="4754880"/>
          </a:xfrm>
          <a:prstGeom prst="roundRect">
            <a:avLst>
              <a:gd name="adj" fmla="val 1154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76872" y="1591056"/>
            <a:ext cx="1124712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22592" y="1645920"/>
            <a:ext cx="1033272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读图规则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86016" y="2176272"/>
            <a:ext cx="164592" cy="146304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2103120"/>
            <a:ext cx="3950208" cy="41148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最后一行 background：真实缺陷未被检测到，即 FN。</a:t>
            </a:r>
            <a:endParaRPr lang="en-US" sz="1410" dirty="0"/>
          </a:p>
        </p:txBody>
      </p:sp>
      <p:sp>
        <p:nvSpPr>
          <p:cNvPr id="52" name="Shape 50"/>
          <p:cNvSpPr/>
          <p:nvPr/>
        </p:nvSpPr>
        <p:spPr>
          <a:xfrm>
            <a:off x="6986016" y="2779776"/>
            <a:ext cx="164592" cy="146304"/>
          </a:xfrm>
          <a:prstGeom prst="chevron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048" y="2706624"/>
            <a:ext cx="3950208" cy="41148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最后一列 background：预测框未匹配真实标注，即 FP。</a:t>
            </a:r>
            <a:endParaRPr lang="en-US" sz="1410" dirty="0"/>
          </a:p>
        </p:txBody>
      </p:sp>
      <p:sp>
        <p:nvSpPr>
          <p:cNvPr id="54" name="Text 52"/>
          <p:cNvSpPr/>
          <p:nvPr/>
        </p:nvSpPr>
        <p:spPr>
          <a:xfrm>
            <a:off x="6986016" y="3401568"/>
            <a:ext cx="1097280" cy="21945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关键现象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986016" y="3831336"/>
            <a:ext cx="164592" cy="146304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42048" y="3758184"/>
            <a:ext cx="3950208" cy="45720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scratch：42 个进入 background，训练集仍出现大规模漏检。</a:t>
            </a:r>
            <a:endParaRPr lang="en-US" sz="1410" dirty="0"/>
          </a:p>
        </p:txBody>
      </p:sp>
      <p:sp>
        <p:nvSpPr>
          <p:cNvPr id="57" name="Shape 55"/>
          <p:cNvSpPr/>
          <p:nvPr/>
        </p:nvSpPr>
        <p:spPr>
          <a:xfrm>
            <a:off x="6986016" y="4517136"/>
            <a:ext cx="164592" cy="146304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42048" y="4443984"/>
            <a:ext cx="3950208" cy="64008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 / spot：分别有 687 / 667 个预测框落入 background，误检值得优先人工查看。</a:t>
            </a:r>
            <a:endParaRPr lang="en-US" sz="1410" dirty="0"/>
          </a:p>
        </p:txBody>
      </p:sp>
      <p:sp>
        <p:nvSpPr>
          <p:cNvPr id="59" name="Text 57"/>
          <p:cNvSpPr/>
          <p:nvPr/>
        </p:nvSpPr>
        <p:spPr>
          <a:xfrm>
            <a:off x="7013448" y="5340096"/>
            <a:ext cx="4041648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诊断结论：阈值只能改变部分 FP/FN；“看不见”或“定位不准”的缺陷需回到样本、标签与模型特征。</a:t>
            </a:r>
            <a:endParaRPr lang="en-US" sz="135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六、固定验证集后处理：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阈值可平衡误检与漏检，但不能创造模型能力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064240" cy="19202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当前完成统一阈值扫描、分类别阈值候选和基线 FN/FP 导出。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353312"/>
            <a:ext cx="6784848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627632"/>
            <a:ext cx="1408176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82496"/>
            <a:ext cx="1316736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固定验证集结果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2130552"/>
            <a:ext cx="114300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176272"/>
            <a:ext cx="110642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方案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00707" y="2130552"/>
            <a:ext cx="2468880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8995" y="2176272"/>
            <a:ext cx="2432304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设置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6046" y="2130552"/>
            <a:ext cx="566928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4334" y="2176272"/>
            <a:ext cx="530352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9434" y="2130552"/>
            <a:ext cx="566928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7722" y="2176272"/>
            <a:ext cx="530352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52821" y="2130552"/>
            <a:ext cx="566928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71109" y="2176272"/>
            <a:ext cx="530352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6208" y="2130552"/>
            <a:ext cx="1353312" cy="384048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2176272"/>
            <a:ext cx="1316736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TP / FP / FN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" y="2531059"/>
            <a:ext cx="11430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585923"/>
            <a:ext cx="1106424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统一阈值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000707" y="2531059"/>
            <a:ext cx="24688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8995" y="2585923"/>
            <a:ext cx="2432304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0.25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6046" y="2531059"/>
            <a:ext cx="5669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4334" y="2585923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.509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69434" y="2531059"/>
            <a:ext cx="5669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7722" y="2585923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.509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52821" y="2531059"/>
            <a:ext cx="5669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71109" y="2585923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.509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36208" y="2531059"/>
            <a:ext cx="13533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585923"/>
            <a:ext cx="1316736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433 / 418 / 417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1248" y="3187598"/>
            <a:ext cx="1143000" cy="640080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3242462"/>
            <a:ext cx="1106424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分类别候选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000707" y="3187598"/>
            <a:ext cx="2468880" cy="640080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8995" y="3242462"/>
            <a:ext cx="2432304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 .30 / scratch .15 / splash .30 / spot .25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486046" y="3187598"/>
            <a:ext cx="566928" cy="640080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04334" y="3242462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.537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69434" y="3187598"/>
            <a:ext cx="566928" cy="640080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7722" y="3242462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.488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52821" y="3187598"/>
            <a:ext cx="566928" cy="640080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71109" y="3242462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64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.511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36208" y="3187598"/>
            <a:ext cx="1353312" cy="640080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242462"/>
            <a:ext cx="1316736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415 / 358 / 435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41248" y="3844138"/>
            <a:ext cx="11430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" y="3899002"/>
            <a:ext cx="1106424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NMS IoU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000707" y="3844138"/>
            <a:ext cx="24688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8995" y="3899002"/>
            <a:ext cx="2432304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0.50 / 0.60 / 0.70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486046" y="3844138"/>
            <a:ext cx="5669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04334" y="3899002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.537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069434" y="3844138"/>
            <a:ext cx="5669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7722" y="3899002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.488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652821" y="3844138"/>
            <a:ext cx="56692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71109" y="3899002"/>
            <a:ext cx="530352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.511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236208" y="3844138"/>
            <a:ext cx="13533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54496" y="3899002"/>
            <a:ext cx="1316736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结果无变化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744968" y="1353312"/>
            <a:ext cx="3803904" cy="4480560"/>
          </a:xfrm>
          <a:prstGeom prst="roundRect">
            <a:avLst>
              <a:gd name="adj" fmla="val 1442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19288" y="1627632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65008" y="1682496"/>
            <a:ext cx="1133856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当前已完成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019288" y="2286000"/>
            <a:ext cx="164592" cy="146304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75320" y="2212848"/>
            <a:ext cx="2898648" cy="45720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预测标签已导出：851 个框。</a:t>
            </a:r>
            <a:endParaRPr lang="en-US" sz="1410" dirty="0"/>
          </a:p>
        </p:txBody>
      </p:sp>
      <p:sp>
        <p:nvSpPr>
          <p:cNvPr id="61" name="Shape 59"/>
          <p:cNvSpPr/>
          <p:nvPr/>
        </p:nvSpPr>
        <p:spPr>
          <a:xfrm>
            <a:off x="8019288" y="2990088"/>
            <a:ext cx="164592" cy="146304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75320" y="2916936"/>
            <a:ext cx="2898648" cy="53035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 conf=0.25：FN=417，FP=418。</a:t>
            </a:r>
            <a:endParaRPr lang="en-US" sz="1410" dirty="0"/>
          </a:p>
        </p:txBody>
      </p:sp>
      <p:sp>
        <p:nvSpPr>
          <p:cNvPr id="63" name="Shape 61"/>
          <p:cNvSpPr/>
          <p:nvPr/>
        </p:nvSpPr>
        <p:spPr>
          <a:xfrm>
            <a:off x="8019288" y="3822192"/>
            <a:ext cx="164592" cy="146304"/>
          </a:xfrm>
          <a:prstGeom prst="chevron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5320" y="3749040"/>
            <a:ext cx="2898648" cy="75895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诊断显示：同位置异类预测仅约 3.2%，主矛盾是检测/定位不足。</a:t>
            </a:r>
            <a:endParaRPr lang="en-US" sz="1410" dirty="0"/>
          </a:p>
        </p:txBody>
      </p:sp>
      <p:sp>
        <p:nvSpPr>
          <p:cNvPr id="65" name="Shape 63"/>
          <p:cNvSpPr/>
          <p:nvPr/>
        </p:nvSpPr>
        <p:spPr>
          <a:xfrm>
            <a:off x="8019288" y="4809744"/>
            <a:ext cx="164592" cy="146304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4736592"/>
            <a:ext cx="2898648" cy="54864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下一步：逐类查看 FN/FP，不将阈值实验误当作训练提升。</a:t>
            </a:r>
            <a:endParaRPr lang="en-US" sz="141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七、下一步：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 FN / FP 人工复核闭环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064240" cy="19202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目标是把“指标低”还原为可行动的错误来源，再决定数据、模型或后处理方向。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04672" y="1435608"/>
            <a:ext cx="10588752" cy="768096"/>
          </a:xfrm>
          <a:prstGeom prst="roundRect">
            <a:avLst>
              <a:gd name="adj" fmla="val 7143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618488"/>
            <a:ext cx="384048" cy="384048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38404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09928" y="1545336"/>
            <a:ext cx="1325880" cy="21031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优先抽样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82112" y="1545336"/>
            <a:ext cx="7662672" cy="34747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先复核 FN/scratch、FP/splash、FP/spot；每类先看 20 个样本。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04672" y="2487168"/>
            <a:ext cx="10588752" cy="768096"/>
          </a:xfrm>
          <a:prstGeom prst="roundRect">
            <a:avLst>
              <a:gd name="adj" fmla="val 7143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43200"/>
            <a:ext cx="38404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09928" y="2596896"/>
            <a:ext cx="1325880" cy="21031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统一归因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82112" y="2596896"/>
            <a:ext cx="7662672" cy="34747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记录：尺度过小、低对比度、反光遮挡、定位偏差、类别混淆、漏标/标错。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804672" y="3538728"/>
            <a:ext cx="10588752" cy="768096"/>
          </a:xfrm>
          <a:prstGeom prst="roundRect">
            <a:avLst>
              <a:gd name="adj" fmla="val 7143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721608"/>
            <a:ext cx="384048" cy="384048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94760"/>
            <a:ext cx="38404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09928" y="3648456"/>
            <a:ext cx="1325880" cy="21031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量化占比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82112" y="3648456"/>
            <a:ext cx="7662672" cy="34747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 error_cases.csv 新增“人工复核”列，统计每类错误原因比例。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804672" y="4590288"/>
            <a:ext cx="10588752" cy="768096"/>
          </a:xfrm>
          <a:prstGeom prst="roundRect">
            <a:avLst>
              <a:gd name="adj" fmla="val 7143"/>
            </a:avLst>
          </a:prstGeom>
          <a:solidFill>
            <a:srgbClr val="EAF4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4773168"/>
            <a:ext cx="384048" cy="384048"/>
          </a:xfrm>
          <a:prstGeom prst="ellipse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846320"/>
            <a:ext cx="384048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09928" y="4700016"/>
            <a:ext cx="1325880" cy="21031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形成决策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82112" y="4700016"/>
            <a:ext cx="7662672" cy="34747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样本问题→补真实图；标签问题→修订标注；定位问题→保留 2048/改结构；误检问题→类别阈值。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841248" y="5852160"/>
            <a:ext cx="10515600" cy="22860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预期产出：错误样本库 + 人工归因统计 + 面向下一轮训练的具体数据清单，而不是继续无目标地更换参数。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五、曲线诊断：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统一阈值 0.25 并非所有类别的最佳工作点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064240" cy="19202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曲线用于确定候选阈值区间；最终部署阈值必须在固定验证集上验证。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553212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99616"/>
            <a:ext cx="4937760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PR 曲线要点（训练集）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13232" y="1956816"/>
            <a:ext cx="109728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02536"/>
            <a:ext cx="106070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6971" y="1956816"/>
            <a:ext cx="109728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5259" y="2002536"/>
            <a:ext cx="106070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mAP@0.5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40710" y="1956816"/>
            <a:ext cx="2834640" cy="347472"/>
          </a:xfrm>
          <a:prstGeom prst="rect">
            <a:avLst/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8998" y="2002536"/>
            <a:ext cx="2798064" cy="25603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2320747"/>
            <a:ext cx="10972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75611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6971" y="2320747"/>
            <a:ext cx="10972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5259" y="2375611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0.770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40710" y="2320747"/>
            <a:ext cx="28346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8998" y="2375611"/>
            <a:ext cx="279806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曲线最优，仍存在背景误检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" y="2757830"/>
            <a:ext cx="109728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812694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6971" y="2757830"/>
            <a:ext cx="109728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5259" y="2812694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0.643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40710" y="2757830"/>
            <a:ext cx="283464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8998" y="2812694"/>
            <a:ext cx="279806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样本少，召回不稳定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" y="3194914"/>
            <a:ext cx="10972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249778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6971" y="3194914"/>
            <a:ext cx="10972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45259" y="3249778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0.564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40710" y="3194914"/>
            <a:ext cx="28346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58998" y="3249778"/>
            <a:ext cx="279806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主要待补漏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13232" y="3631997"/>
            <a:ext cx="109728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686861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spot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826971" y="3631997"/>
            <a:ext cx="109728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5259" y="3686861"/>
            <a:ext cx="106070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0.595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40710" y="3631997"/>
            <a:ext cx="2834640" cy="420624"/>
          </a:xfrm>
          <a:prstGeom prst="rect">
            <a:avLst/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58998" y="3686861"/>
            <a:ext cx="2798064" cy="32918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误检与漏检并存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1225296"/>
            <a:ext cx="553212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1499616"/>
            <a:ext cx="4937760" cy="27432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F1-Confidence 曲线要点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6876288" y="1965960"/>
            <a:ext cx="4206240" cy="2688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总体 F1 峰值约 0.60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推荐起始统一阈值：0.23–0.25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分类别候选阈值（待验证集复核）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chipping：≈0.30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scratch：≈0.10–0.15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splash：≈0.20–0.30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spot：≈0.20–0.30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5413248"/>
            <a:ext cx="10972800" cy="502920"/>
          </a:xfrm>
          <a:prstGeom prst="roundRect">
            <a:avLst>
              <a:gd name="adj" fmla="val 10909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559552"/>
            <a:ext cx="10515600" cy="182880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53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训练集曲线显示总体 F1 峰值约为 0.60（conf≈0.23）。分类别候选：scratch 约 0.10–0.15；chipping 约 0.30；splash / spot 约 0.20–0.30。</a:t>
            </a:r>
            <a:endParaRPr lang="en-US" sz="134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128016"/>
            <a:ext cx="438912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八、阶段结论：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36592" y="128016"/>
            <a:ext cx="6766560" cy="38404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4B4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当前应优先解释错误，再扩展训练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886968"/>
            <a:ext cx="11064240" cy="192024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下一轮训练的每项改动，都需要回答：改善了哪一类 P/R，代价是什么，证据来自哪里。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344168"/>
            <a:ext cx="5321808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27632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82496"/>
            <a:ext cx="1554480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本周已形成的结论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0976" y="2295144"/>
            <a:ext cx="164592" cy="146304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221992"/>
            <a:ext cx="4224528" cy="53035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在线增强总体优于当前离线合成；YOLO26m 仍是主模型。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950976" y="3099816"/>
            <a:ext cx="164592" cy="146304"/>
          </a:xfrm>
          <a:prstGeom prst="chevron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026664"/>
            <a:ext cx="4224528" cy="58521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2048 对 scratch 有专项价值，但仅提升分辨率不足以解决漏检。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950976" y="3959352"/>
            <a:ext cx="164592" cy="146304"/>
          </a:xfrm>
          <a:prstGeom prst="chevron">
            <a:avLst/>
          </a:prstGeom>
          <a:solidFill>
            <a:srgbClr val="C9506B"/>
          </a:solidFill>
          <a:ln w="12700">
            <a:solidFill>
              <a:srgbClr val="C950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886200"/>
            <a:ext cx="4224528" cy="53035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当前模型训练集 P/R 仍不高，瓶颈不只是过拟合。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950976" y="4754880"/>
            <a:ext cx="164592" cy="146304"/>
          </a:xfrm>
          <a:prstGeom prst="chevron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4681728"/>
            <a:ext cx="4224528" cy="53035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阈值后处理可以选择业务平衡点，不能替代真实样本与模型学习。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6272784" y="1344168"/>
            <a:ext cx="5276088" cy="4498848"/>
          </a:xfrm>
          <a:prstGeom prst="roundRect">
            <a:avLst>
              <a:gd name="adj" fmla="val 1220"/>
            </a:avLst>
          </a:prstGeom>
          <a:solidFill>
            <a:srgbClr val="F8FBFE"/>
          </a:solidFill>
          <a:ln w="8890">
            <a:solidFill>
              <a:srgbClr val="A9C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1627632"/>
            <a:ext cx="1444752" cy="310896"/>
          </a:xfrm>
          <a:prstGeom prst="roundRect">
            <a:avLst>
              <a:gd name="adj" fmla="val 14706"/>
            </a:avLst>
          </a:prstGeom>
          <a:solidFill>
            <a:srgbClr val="2D64AA"/>
          </a:solidFill>
          <a:ln w="8890">
            <a:solidFill>
              <a:srgbClr val="2D6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1682496"/>
            <a:ext cx="1353312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下一阶段优先级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1112" y="2157984"/>
            <a:ext cx="356616" cy="356616"/>
          </a:xfrm>
          <a:prstGeom prst="ellipse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2231136"/>
            <a:ext cx="356616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59752" y="2148840"/>
            <a:ext cx="1993392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人工 FN/FP 复核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35440" y="2148840"/>
            <a:ext cx="1783080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建立错误归因统计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6611112" y="2871216"/>
            <a:ext cx="356616" cy="356616"/>
          </a:xfrm>
          <a:prstGeom prst="ellipse">
            <a:avLst/>
          </a:prstGeom>
          <a:solidFill>
            <a:srgbClr val="F4B437"/>
          </a:solidFill>
          <a:ln w="12700">
            <a:solidFill>
              <a:srgbClr val="F4B4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944368"/>
            <a:ext cx="356616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59752" y="2862072"/>
            <a:ext cx="1993392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补真实 scratch 与困难样本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35440" y="2862072"/>
            <a:ext cx="1783080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先补真实多工况样本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6611112" y="3584448"/>
            <a:ext cx="356616" cy="356616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3657600"/>
            <a:ext cx="356616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9752" y="3575304"/>
            <a:ext cx="1993392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固定基线后再重训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235440" y="3575304"/>
            <a:ext cx="1783080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避免数据、参数、结构同时变化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6611112" y="4297680"/>
            <a:ext cx="356616" cy="356616"/>
          </a:xfrm>
          <a:prstGeom prst="ellipse">
            <a:avLst/>
          </a:prstGeom>
          <a:solidFill>
            <a:srgbClr val="2D64AA"/>
          </a:solidFill>
          <a:ln w="12700">
            <a:solidFill>
              <a:srgbClr val="2D6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4370832"/>
            <a:ext cx="356616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59752" y="4288536"/>
            <a:ext cx="1993392" cy="20116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3A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公平算法消融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235440" y="4288536"/>
            <a:ext cx="1783080" cy="292608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D70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原始 YOLO11n vs 边缘增强结构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804672" y="5998464"/>
            <a:ext cx="10570464" cy="219456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本周汇报的决策请求：先完成错误样本人工复核，再确定真实数据扩充与下一轮训练策略。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94944" y="5916168"/>
            <a:ext cx="10808208" cy="393192"/>
          </a:xfrm>
          <a:prstGeom prst="roundRect">
            <a:avLst>
              <a:gd name="adj" fmla="val 11628"/>
            </a:avLst>
          </a:prstGeom>
          <a:solidFill>
            <a:srgbClr val="153B78"/>
          </a:solidFill>
          <a:ln w="8890">
            <a:solidFill>
              <a:srgbClr val="153B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998464"/>
            <a:ext cx="10570464" cy="164592"/>
          </a:xfrm>
          <a:prstGeom prst="rect">
            <a:avLst/>
          </a:prstGeom>
          <a:noFill/>
        </p:spPr>
        <p:txBody>
          <a:bodyPr wrap="square" lIns="445" tIns="445" rIns="445" bIns="445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本周汇报的决策请求：先完成错误样本人工复核，再确定真实数据扩充与下一轮训练策略。</a:t>
            </a:r>
            <a:endParaRPr lang="en-US" sz="134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5770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2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3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4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5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6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7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8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9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0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1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2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3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4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5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6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7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8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19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ags/tag20.xml><?xml version="1.0" encoding="utf-8"?>
<p:tagLst xmlns:p="http://schemas.openxmlformats.org/presentationml/2006/main">
  <p:tag name="KSO_WM_DIAGRAM_VIRTUALLY_FRAME" val="{&quot;height&quot;:277.2,&quot;left&quot;:51.839999999999996,&quot;top&quot;:123.84,&quot;width&quot;:855.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2817</Words>
  <Application>WPS 演示</Application>
  <PresentationFormat>On-screen Show (16:9)</PresentationFormat>
  <Paragraphs>450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Surface Defect Detection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YOLO表面瑕疵检测本周实验进展与错误诊断</dc:title>
  <dc:creator>Codex</dc:creator>
  <dc:subject>YOLO surface defect detection weekly progress report</dc:subject>
  <cp:lastModifiedBy>顾阜</cp:lastModifiedBy>
  <cp:revision>3</cp:revision>
  <dcterms:created xsi:type="dcterms:W3CDTF">2026-08-10T06:12:00Z</dcterms:created>
  <dcterms:modified xsi:type="dcterms:W3CDTF">2026-08-10T10:33:59Z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E93EB34A64B2466AB241F53B0994BB53_12</vt:lpwstr>
  </property>
  <property fmtid="{D5CDD505-2E9C-101B-9397-08002B2CF9AE}" pid="3" name="KSOProductBuildVer">
    <vt:lpwstr>2052-12.1.0.28043</vt:lpwstr>
  </property>
</Properties>
</file>