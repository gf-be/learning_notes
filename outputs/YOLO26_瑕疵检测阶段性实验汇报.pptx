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555ae8cfe4d41" /><Relationship Type="http://schemas.openxmlformats.org/officeDocument/2006/relationships/extended-properties" Target="/docProps/app.xml" Id="Rdacb2dcf42974e52" /><Relationship Type="http://schemas.openxmlformats.org/officeDocument/2006/relationships/officeDocument" Target="/ppt/presentation.xml" Id="Rf34d50e9c95d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16fcc47c34d32"/>
  </p:sldMasterIdLst>
  <p:notesMasterIdLst>
    <p:notesMasterId xmlns:r="http://schemas.openxmlformats.org/officeDocument/2006/relationships" r:id="Rc4f583a7f10349a8"/>
  </p:notesMasterIdLst>
  <p:sldIdLst>
    <p:sldId xmlns:r="http://schemas.openxmlformats.org/officeDocument/2006/relationships" id="256" r:id="Re004591e2f1842e1"/>
    <p:sldId xmlns:r="http://schemas.openxmlformats.org/officeDocument/2006/relationships" id="257" r:id="Rfe33cf793dfd4c5d"/>
    <p:sldId xmlns:r="http://schemas.openxmlformats.org/officeDocument/2006/relationships" id="258" r:id="Rb45dcbe239b74120"/>
    <p:sldId xmlns:r="http://schemas.openxmlformats.org/officeDocument/2006/relationships" id="259" r:id="R1c9d3bcd87fb4b46"/>
    <p:sldId xmlns:r="http://schemas.openxmlformats.org/officeDocument/2006/relationships" id="260" r:id="R0509ba2c0d5c4316"/>
    <p:sldId xmlns:r="http://schemas.openxmlformats.org/officeDocument/2006/relationships" id="261" r:id="Re707f58cbc684c43"/>
    <p:sldId xmlns:r="http://schemas.openxmlformats.org/officeDocument/2006/relationships" id="262" r:id="R11e9ec6754ed4445"/>
    <p:sldId xmlns:r="http://schemas.openxmlformats.org/officeDocument/2006/relationships" id="263" r:id="Ra571de6ff4b84a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cfd730d7e4734" /><Relationship Type="http://schemas.openxmlformats.org/officeDocument/2006/relationships/slideMaster" Target="/ppt/slideMasters/slideMaster1.xml" Id="Re1916fcc47c34d32" /><Relationship Type="http://schemas.openxmlformats.org/officeDocument/2006/relationships/notesMaster" Target="/ppt/notesMasters/notesMaster1.xml" Id="Rc4f583a7f10349a8" /><Relationship Type="http://schemas.openxmlformats.org/officeDocument/2006/relationships/presProps" Target="/ppt/presProps.xml" Id="Rd755d758e4ea45e2" /><Relationship Type="http://schemas.openxmlformats.org/officeDocument/2006/relationships/tableStyles" Target="/ppt/tableStyles.xml" Id="R0707edf777cc480c" /><Relationship Type="http://schemas.openxmlformats.org/officeDocument/2006/relationships/slide" Target="/ppt/slides/slide1.xml" Id="Re004591e2f1842e1" /><Relationship Type="http://schemas.openxmlformats.org/officeDocument/2006/relationships/slide" Target="/ppt/slides/slide2.xml" Id="Rfe33cf793dfd4c5d" /><Relationship Type="http://schemas.openxmlformats.org/officeDocument/2006/relationships/slide" Target="/ppt/slides/slide3.xml" Id="Rb45dcbe239b74120" /><Relationship Type="http://schemas.openxmlformats.org/officeDocument/2006/relationships/slide" Target="/ppt/slides/slide4.xml" Id="R1c9d3bcd87fb4b46" /><Relationship Type="http://schemas.openxmlformats.org/officeDocument/2006/relationships/slide" Target="/ppt/slides/slide5.xml" Id="R0509ba2c0d5c4316" /><Relationship Type="http://schemas.openxmlformats.org/officeDocument/2006/relationships/slide" Target="/ppt/slides/slide6.xml" Id="Re707f58cbc684c43" /><Relationship Type="http://schemas.openxmlformats.org/officeDocument/2006/relationships/slide" Target="/ppt/slides/slide7.xml" Id="R11e9ec6754ed4445" /><Relationship Type="http://schemas.openxmlformats.org/officeDocument/2006/relationships/slide" Target="/ppt/slides/slide8.xml" Id="Ra571de6ff4b8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e7be890bcf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a3109796b4154" /><Relationship Type="http://schemas.openxmlformats.org/officeDocument/2006/relationships/notesMaster" Target="/ppt/notesMasters/notesMaster1.xml" Id="R70a77474b25947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72bee68314317" /><Relationship Type="http://schemas.openxmlformats.org/officeDocument/2006/relationships/notesMaster" Target="/ppt/notesMasters/notesMaster1.xml" Id="Rccb6d5230eb04e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ac6f9b308e4bcd" /><Relationship Type="http://schemas.openxmlformats.org/officeDocument/2006/relationships/notesMaster" Target="/ppt/notesMasters/notesMaster1.xml" Id="Rc4b66e3d6795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4c856c92294b6b" /><Relationship Type="http://schemas.openxmlformats.org/officeDocument/2006/relationships/notesMaster" Target="/ppt/notesMasters/notesMaster1.xml" Id="Re3db613de8e84a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13840cc5324474" /><Relationship Type="http://schemas.openxmlformats.org/officeDocument/2006/relationships/notesMaster" Target="/ppt/notesMasters/notesMaster1.xml" Id="Rb028eade453246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c736f22414345" /><Relationship Type="http://schemas.openxmlformats.org/officeDocument/2006/relationships/notesMaster" Target="/ppt/notesMasters/notesMaster1.xml" Id="R1e8a29d2de4b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68ef5f8ea34735" /><Relationship Type="http://schemas.openxmlformats.org/officeDocument/2006/relationships/notesMaster" Target="/ppt/notesMasters/notesMaster1.xml" Id="R4b0f56f55c6c4f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17e25b2e81467f" /><Relationship Type="http://schemas.openxmlformats.org/officeDocument/2006/relationships/notesMaster" Target="/ppt/notesMasters/notesMaster1.xml" Id="Rfa77129cfd1e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a5ac7969c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5e3456c6e4c4d" /><Relationship Type="http://schemas.openxmlformats.org/officeDocument/2006/relationships/slideLayout" Target="/ppt/slideLayouts/slideLayout1.xml" Id="Re21b97e0288d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1b97e0288d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a8ac0818349e1" /><Relationship Type="http://schemas.openxmlformats.org/officeDocument/2006/relationships/notesSlide" Target="/ppt/notesSlides/notesSlide1.xml" Id="Re6631414afa4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b3ef4502244a7" /><Relationship Type="http://schemas.openxmlformats.org/officeDocument/2006/relationships/chart" Target="/ppt/slides/charts/chart1.xml" Id="R609aa17800b84502" /><Relationship Type="http://schemas.openxmlformats.org/officeDocument/2006/relationships/notesSlide" Target="/ppt/notesSlides/notesSlide2.xml" Id="R2ce6848ae5894c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afc3fcdce4b03" /><Relationship Type="http://schemas.openxmlformats.org/officeDocument/2006/relationships/notesSlide" Target="/ppt/notesSlides/notesSlide3.xml" Id="Rdc1da7d5d1af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f790d86b340fb" /><Relationship Type="http://schemas.openxmlformats.org/officeDocument/2006/relationships/chart" Target="/ppt/slides/charts/chart2.xml" Id="Rf8160391e9d14482" /><Relationship Type="http://schemas.openxmlformats.org/officeDocument/2006/relationships/notesSlide" Target="/ppt/notesSlides/notesSlide4.xml" Id="Ra3869d957b83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64192683428d" /><Relationship Type="http://schemas.openxmlformats.org/officeDocument/2006/relationships/notesSlide" Target="/ppt/notesSlides/notesSlide5.xml" Id="R6bf7fa92764246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0dc5e902948fa" /><Relationship Type="http://schemas.openxmlformats.org/officeDocument/2006/relationships/notesSlide" Target="/ppt/notesSlides/notesSlide6.xml" Id="R964c45fe8950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ecb405b6746dd" /><Relationship Type="http://schemas.openxmlformats.org/officeDocument/2006/relationships/notesSlide" Target="/ppt/notesSlides/notesSlide7.xml" Id="R226ddf41e9b042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98cceeeaf4918" /><Relationship Type="http://schemas.openxmlformats.org/officeDocument/2006/relationships/notesSlide" Target="/ppt/notesSlides/notesSlide8.xml" Id="R263e82f7b0874b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train boxes</c:v>
          </c:tx>
          <c:spPr>
            <a:solidFill xmlns:a="http://schemas.openxmlformats.org/drawingml/2006/main">
              <a:srgbClr val="2563EB"/>
            </a:solidFill>
          </c:spPr>
          <c:dLbls/>
          <c:cat>
            <c:strLit>
              <c:ptCount val="3"/>
              <c:pt idx="0">
                <c:v>splash</c:v>
              </c:pt>
              <c:pt idx="1">
                <c:v>scratch</c:v>
              </c:pt>
              <c:pt idx="2">
                <c:v>chipping</c:v>
              </c:pt>
            </c:strLit>
          </c:cat>
          <c:val>
            <c:numLit>
              <c:formatCode>General</c:formatCode>
              <c:ptCount val="3"/>
              <c:pt idx="0">
                <c:v>2815</c:v>
              </c:pt>
              <c:pt idx="1">
                <c:v>364</c:v>
              </c:pt>
              <c:pt idx="2">
                <c:v>390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010"/>
                  </a:solidFill>
                </a:defRPr>
              </a:pPr>
            </a:p>
          </c:txPr>
          <c:dLblPos val="outEnd"/>
          <c:showVal val="1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mAP50 (%)</c:v>
          </c:tx>
          <c:spPr>
            <a:solidFill xmlns:a="http://schemas.openxmlformats.org/drawingml/2006/main">
              <a:srgbClr val="2563EB"/>
            </a:solidFill>
          </c:spPr>
          <c:dLbls/>
          <c:cat>
            <c:strLit>
              <c:ptCount val="10"/>
              <c:pt idx="0">
                <c:v>n baseline</c:v>
              </c:pt>
              <c:pt idx="1">
                <c:v>s baseline</c:v>
              </c:pt>
              <c:pt idx="2">
                <c:v>m baseline</c:v>
              </c:pt>
              <c:pt idx="3">
                <c:v>recall aug</c:v>
              </c:pt>
              <c:pt idx="4">
                <c:v>long train</c:v>
              </c:pt>
              <c:pt idx="5">
                <c:v>offline aug</c:v>
              </c:pt>
              <c:pt idx="6">
                <c:v>2x2 tile</c:v>
              </c:pt>
              <c:pt idx="7">
                <c:v>binary 1280</c:v>
              </c:pt>
              <c:pt idx="8">
                <c:v>binary 1536</c:v>
              </c:pt>
              <c:pt idx="9">
                <c:v>CLAHE 1536</c:v>
              </c:pt>
            </c:strLit>
          </c:cat>
          <c:val>
            <c:numLit>
              <c:formatCode>General</c:formatCode>
              <c:ptCount val="10"/>
              <c:pt idx="0">
                <c:v>55.5</c:v>
              </c:pt>
              <c:pt idx="1">
                <c:v>59.5</c:v>
              </c:pt>
              <c:pt idx="2">
                <c:v>61.7</c:v>
              </c:pt>
              <c:pt idx="3">
                <c:v>59.8</c:v>
              </c:pt>
              <c:pt idx="4">
                <c:v>59.8</c:v>
              </c:pt>
              <c:pt idx="5">
                <c:v>57</c:v>
              </c:pt>
              <c:pt idx="6">
                <c:v>57.8</c:v>
              </c:pt>
              <c:pt idx="7">
                <c:v>66.4</c:v>
              </c:pt>
              <c:pt idx="8">
                <c:v>67.5</c:v>
              </c:pt>
              <c:pt idx="9">
                <c:v>66.2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1010"/>
                  </a:solidFill>
                </a:defRPr>
              </a:pPr>
            </a:p>
          </c:txPr>
          <c:dLblPos val="outEnd"/>
          <c:showVal val="1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0101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61F10-16F5-4959-9B2B-CB712B6A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010"/>
                </a:solidFill>
              </a:defRPr>
            </a:pPr>
            <a:r>
              <a:rPr sz="3900" b="1">
                <a:solidFill>
                  <a:srgbClr val="101010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61475-2605-4C33-AE5D-EB35F8E8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阶段性实验对比分析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AF8AF-6AA0-49EC-9E0E-94F03DB6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</a:rPr>
              <a:t>目标：评估三分类、二分类、增强、切图与预处理对 mAP50 的影响，并确定下一步改进路线。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8D5A-67A4-4DCD-95A5-9BEA1998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79BB3-A5E0-4847-8F1F-3FA04F4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当前最好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9B056-8C88-49B9-914A-9FFF3B2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0.675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70A6C-24CA-4C9F-AEC1-45012CB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66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BBBBB"/>
                </a:solidFill>
              </a:defRPr>
            </a:pPr>
            <a:r>
              <a:rPr sz="1500" b="0">
                <a:solidFill>
                  <a:srgbClr val="BBBBBB"/>
                </a:solidFill>
              </a:rPr>
              <a:t>mAP50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CE966-8F4D-49F4-AFD8-33E1C24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YOLO26m + 二分类 defect + imgsz1536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95BC7-F488-495F-862C-0D7E41A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BBBBB"/>
                </a:solidFill>
              </a:defRPr>
            </a:pPr>
            <a:r>
              <a:rPr sz="1500" b="0">
                <a:solidFill>
                  <a:srgbClr val="BBBBBB"/>
                </a:solidFill>
              </a:rPr>
              <a:t>mAP50-95 = 0.346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56506-CD35-4EF7-B8C7-338DC207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数据截至 2026-07-01；只记录已确认实验结果</a:t>
            </a:r>
          </a:p>
        </p:txBody>
      </p:sp>
    </p:spTree>
    <p:extLst>
      <p:ext uri="{BB962C8B-B14F-4D97-AF65-F5344CB8AC3E}">
        <p14:creationId xmlns:p14="http://schemas.microsoft.com/office/powerpoint/2010/main" val="14087379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F0C9B-3D30-49B0-BBE0-709CEC2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5F5A8-BB8C-4A37-B8F2-03D513DF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数据集与类别分布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D3F37-B2D3-4607-856D-243B3FD6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163830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1238250"/>
                <a:gridCol w="1238250"/>
                <a:gridCol w="123825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集合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图片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标签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目标框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3569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val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161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161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1121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517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0" y="1600200"/>
          <a:ext xmlns:a="http://schemas.openxmlformats.org/drawingml/2006/main" cx="4953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9aa17800b8450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CAD59-6569-443A-972F-F1F3543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0553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E880-2A97-4BAA-8E89-3811A64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• 类别明显不均衡：splash 在 train 中有 2815 个框，scratch/chipping 分别为 364/390。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F9BFB-A530-4F5F-BFA0-CD7FDC5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• scratch 在多轮实验中一直是主要瓶颈，且可视化显示其框标注存在不一致。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82C1C-2970-4168-B6AD-6B738027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D44B-2B02-4EBD-B49B-2A9F837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63935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C634A-675A-4609-A349-F15EDB85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5700-D9B3-43EB-B572-B405FA0C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实验路径：先排除无效方向，再聚焦可用改进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37E7B-3D48-4789-A273-DADE34E1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7F00-2B85-4911-9DE4-F6619B7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B436-7FBB-44CC-993A-18A072E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F099A-F8CF-49C0-A82C-81E5192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三尺度基线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60EF8-3C8B-40E9-9176-CBB97211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50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n/s/m 对比，确定 YOLO26m 为当前三分类基线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38041-2623-41E3-B03B-1AAA425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D92F8-DE08-4DA6-A639-AB6880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F1A8F-8615-4CA4-837D-433A824F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增强与长训练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7D1E8-30DD-416E-8B8F-05A0D85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860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在线增强、离线增强、长训练均未提升 mAP50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81832-6C67-4C50-A680-15D10FC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F09C4-EFA4-4EDE-9111-0D66630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1B26B-C882-4430-AD85-087A885B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切图训练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5D505-CE0F-455D-80D3-0F8DCEBE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671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2x2 非重叠切图下降，说明上下文很重要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447FC-8D15-4A06-B16C-1867FF5A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E79D0-9357-492A-B76A-0DF55606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67FA6-1146-4841-8601-0A4DD3F4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3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二分类诊断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71FFF-E5DB-415A-A5DF-D1CC33E9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481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合并为 defect 后 mAP50 提升，类别边界确有影响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F5CF4-6B91-4247-B266-65B25B7B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A9D7F-7728-46FA-89A9-5F47A879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15756-A7D1-47C6-870B-3429939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24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高分辨率/CLAHE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7C4ED-46FE-4B5D-8611-7A4E926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1536 小幅增益；CLAHE 提召回但误报风险上升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A57DE-EAF2-4D2E-94F3-1107BFB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14A90-71F6-4A3D-B50D-1E630CE2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41148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B616D-8F4E-47E2-95BF-2B4D39A9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3B329-9422-49A6-A37D-05140A6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核心结果总览：当前最好来自二分类 + 1536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F18A-01A1-4B90-8F2B-9749803E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160391e9d144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53771-502D-480A-97F8-5AC2A3A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B1E78-0BF1-4006-AECF-882DF21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关键读数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87E0A-4C8E-4934-8677-F5DF4FE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0.675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EA300-0240-4AF8-ADC5-D4F38D38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BBBB"/>
                </a:solidFill>
              </a:defRPr>
            </a:pPr>
            <a:r>
              <a:rPr sz="1350" b="0">
                <a:solidFill>
                  <a:srgbClr val="BBBBBB"/>
                </a:solidFill>
              </a:rPr>
              <a:t>当前最高 mAP50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60349-0FCD-463D-B3B9-63919B8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+0.058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5BD9A-32BB-416E-B131-B8B44D45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BBBBB"/>
                </a:solidFill>
              </a:defRPr>
            </a:pPr>
            <a:r>
              <a:rPr sz="1275" b="0">
                <a:solidFill>
                  <a:srgbClr val="BBBBBB"/>
                </a:solidFill>
              </a:rPr>
              <a:t>相比三分类 YOLO26m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61AB7-4400-4715-83D9-9FE566DD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F9D11-5FB4-49A7-A88B-95EB21A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1891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909C7-B605-4FE8-B2BB-BE42FFB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FF669-44A3-4567-964B-2AF3440E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分阶段结果对比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73AC4-A7C6-41E7-8FF8-92E37FF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111633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8936"/>
                <a:gridCol w="3078646"/>
                <a:gridCol w="1047750"/>
                <a:gridCol w="4617968"/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实验方向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代表实验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三分类基线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YOLO26m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0.617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scratch 是主要短板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在线增强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recall_aug_v1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0.598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召回略升但总体下降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长训练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no_aug_longer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不是训练轮数不足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离线增强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offline_aug_no_splash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0.570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少数类增强未解决问题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2x2 切图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tile_2x2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上下文被破坏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二分类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binary_defect_img1536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6B35"/>
                          </a:solidFill>
                        </a:rPr>
                        <a:t>0.675</a:t>
                      </a:r>
                    </a:p>
                  </a:txBody>
                  <a:tcPr marL="91440" marR="91440" marT="45720" marB="4572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当前最好方向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CLAHE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binary_defect_clahe_img1536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0.662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误检风险上升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7EC51-761F-4AE6-891C-B4670AA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注：以上均为已确认验证集结果；阈值测试尚未记录实际 test 输出。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85104-6BE0-4B4D-8C59-1AFD43B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150C1-5717-4568-9E28-87867D5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5651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8068D-6966-4DD9-AB5B-404B506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DE9DA-47DE-4D6B-9227-F64EEA00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为什么没有继续押注增强和切图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CAAA2-6078-4EAA-93C0-BCC3A146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047A5-9A37-46F2-9BB1-86D6356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9F066-2C1F-445B-84CC-430A858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</a:defRPr>
            </a:pPr>
            <a:r>
              <a:rPr sz="2100" b="1">
                <a:solidFill>
                  <a:srgbClr val="101010"/>
                </a:solidFill>
              </a:rPr>
              <a:t>增强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987C1-E9DB-4738-9552-4F1B44B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0.598 / 0.570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37357-B612-4E3C-A07A-82135AF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mAP50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360FF-C394-4389-95DE-106F3FFA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</a:defRPr>
            </a:pPr>
            <a:r>
              <a:rPr sz="1425" b="0">
                <a:solidFill>
                  <a:srgbClr val="101010"/>
                </a:solidFill>
              </a:rPr>
              <a:t>在线增强和离线增强均使 mAP50 下降；说明问题不只是样本数量或轻微变换不足。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45814-D8A7-4E39-BDC1-A3205AC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EEBFC-19B3-488F-999F-C2F25E96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</a:defRPr>
            </a:pPr>
            <a:r>
              <a:rPr sz="2100" b="1">
                <a:solidFill>
                  <a:srgbClr val="101010"/>
                </a:solidFill>
              </a:rPr>
              <a:t>切图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2BC2-1E88-40EF-BF22-4ED6C016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0.578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5C4A-A708-43AC-B02B-CFFB504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mAP50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FF855-FE3A-4E54-BDA2-81B036EC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</a:defRPr>
            </a:pPr>
            <a:r>
              <a:rPr sz="1425" b="0">
                <a:solidFill>
                  <a:srgbClr val="101010"/>
                </a:solidFill>
              </a:rPr>
              <a:t>2x2 切图让 scratch 和 chipping 下降；圆形边缘与全局上下文被破坏。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13BCE-1ED6-401E-9EAA-2B2818AE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20371-1AB6-40A7-BE22-75B0359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</a:defRPr>
            </a:pPr>
            <a:r>
              <a:rPr sz="2100" b="1">
                <a:solidFill>
                  <a:srgbClr val="101010"/>
                </a:solidFill>
              </a:rPr>
              <a:t>CLAHE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B36DC-F15A-4B19-B6AC-12DD0DB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0.662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9985E-0767-4C84-ACA7-4E843418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mAP50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674AF-61F6-46AD-9CCB-7B92587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</a:defRPr>
            </a:pPr>
            <a:r>
              <a:rPr sz="1425" b="0">
                <a:solidFill>
                  <a:srgbClr val="101010"/>
                </a:solidFill>
              </a:rPr>
              <a:t>Recall 提高但 Precision 下降；背景纹理被一起增强，误检风险变高。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E6882-550E-4BDD-BF32-C669497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1BB2D-A77E-45C4-8A2C-A50D926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34980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8EF53-CF2B-4294-B85D-B8F4BBD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FF5D4-DCBD-4507-B079-8F6F6B2F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当前判断：主要瓶颈在标注一致性和误报控制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C8039-B276-4F6D-A35F-98D6FB49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FF17A-C838-4E42-81F8-C3D1F17E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7172-F2BE-4D91-91F8-0A2CE87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核心发现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D0413-DE75-4D41-A828-3DE9FB43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二分类提升说明类别边界拖累三分类。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ED35D-18C6-447D-BC3E-7664D32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mAP50-95 没有明显提升，定位质量仍不稳定。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D20B3-996C-4F11-A16D-954FD8C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可视化显示 scratch 存在多框、重叠、尺度不统一问题。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A786E-69B8-43C4-B285-A0C46D68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最终部署还需要量化正常图误报。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F5C63-A5D2-4EDD-97D6-64D902D9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</a:defRPr>
            </a:pPr>
            <a:r>
              <a:rPr sz="2100" b="1">
                <a:solidFill>
                  <a:srgbClr val="101010"/>
                </a:solidFill>
              </a:rPr>
              <a:t>阶段结论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77A44-76E1-4E9C-8826-E06B689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010"/>
                </a:solidFill>
              </a:defRPr>
            </a:pPr>
            <a:r>
              <a:rPr sz="1800" b="0">
                <a:solidFill>
                  <a:srgbClr val="101010"/>
                </a:solidFill>
              </a:rPr>
              <a:t>继续调普通增强、继续切图或拉长训练，预计收益有限。下一阶段应围绕“阈值-误报权衡”和“scratch 标注清洗”展开。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9B806-4C45-482C-9DBA-32C68DE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8B83C-EF12-417D-B3FA-57FBEAD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推荐主线：binary defect + imgsz1536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11531-6B4A-4A10-8D29-E24A18A9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当前最好 mAP50 0.675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0C85F-83B1-4FCD-8A39-BCAF788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9110C-F6F4-4B60-A8AC-E656A3F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97711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78261-5B4D-4D62-ADDE-DEE1DE3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YOLO26 楔形片瑕疵检测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7A3EA-C630-4DC1-8A40-DBB74C7D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下一步：阈值测试与小规模标注清洗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9A1FE-EB13-4C8E-B3A5-F1F07F5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solidFill>
              <a:srgbClr val="C9CDD3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53340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</a:tblGrid>
              <a:tr h="431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conf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iou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高召回，观察少漏检上限</a:t>
                      </a:r>
                    </a:p>
                  </a:txBody>
                  <a:tcPr marL="91440" marR="91440" marT="45720" marB="45720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T2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0.15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重点候选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平衡点</a:t>
                      </a:r>
                    </a:p>
                  </a:txBody>
                  <a:tcPr marL="91440" marR="91440" marT="45720" marB="45720"/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T4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0.25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默认附近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T5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1010"/>
                          </a:solidFill>
                        </a:rPr>
                        <a:t>控制误报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36379-9F1C-40C6-A160-245336AF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572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D00E0-174C-49CC-BCE9-38A94733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必须新增的部署指标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7322C-A386-4C45-A121-57AE627D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• 正常图误报张数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3C833-4A95-48BD-ACB6-FEDDC14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• 正常图误报框数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C9697-5C9F-4104-A163-F75FEA31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</a:rPr>
              <a:t>• 正常图误报率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F15DD-C27B-4A52-828D-9E8C2AFC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最终阈值不一定选 mAP50 最高点，而是选择漏检和误报都可接受的工作点。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CA5E-F33C-4D4F-97C1-BF85E7E9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并行建议：抽取 50 张 train scratch + 20 张 val scratch，统一 scratch 标注规则后做小闭环验证。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4E959-8011-4937-9EB1-A1F0F7D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阶段性实验汇报 · 指标来自已确认训练/验证截图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F9CC6-D34D-4AFA-96E5-6BB8FF8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5231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2026-07-01T05:52:26.3920000Z</dcterms:created>
  <dcterms:modified xsi:type="dcterms:W3CDTF">2026-07-01T05:52:26.3920000Z</dcterms:modified>
</coreProperties>
</file>