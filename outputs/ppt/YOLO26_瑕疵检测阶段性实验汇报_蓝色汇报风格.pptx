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2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ce08a0502d543bb" /><Relationship Type="http://schemas.openxmlformats.org/officeDocument/2006/relationships/extended-properties" Target="/docProps/app.xml" Id="Rc367e59c60424893" /><Relationship Type="http://schemas.openxmlformats.org/officeDocument/2006/relationships/officeDocument" Target="/ppt/presentation.xml" Id="Rcc01eba53b4b446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7dd1db943354f3b"/>
  </p:sldMasterIdLst>
  <p:notesMasterIdLst>
    <p:notesMasterId xmlns:r="http://schemas.openxmlformats.org/officeDocument/2006/relationships" r:id="R7df1ee6830b643a1"/>
  </p:notesMasterIdLst>
  <p:sldIdLst>
    <p:sldId xmlns:r="http://schemas.openxmlformats.org/officeDocument/2006/relationships" id="256" r:id="R91c0890d51be4d91"/>
    <p:sldId xmlns:r="http://schemas.openxmlformats.org/officeDocument/2006/relationships" id="257" r:id="R8bd648eb7fa24082"/>
    <p:sldId xmlns:r="http://schemas.openxmlformats.org/officeDocument/2006/relationships" id="258" r:id="R52101301dd1e4cf9"/>
    <p:sldId xmlns:r="http://schemas.openxmlformats.org/officeDocument/2006/relationships" id="259" r:id="R2b516bf293d24c7f"/>
    <p:sldId xmlns:r="http://schemas.openxmlformats.org/officeDocument/2006/relationships" id="260" r:id="Ra9755566f26848a5"/>
    <p:sldId xmlns:r="http://schemas.openxmlformats.org/officeDocument/2006/relationships" id="261" r:id="R3974c910389d49fb"/>
    <p:sldId xmlns:r="http://schemas.openxmlformats.org/officeDocument/2006/relationships" id="262" r:id="R3a2e71436de64c3b"/>
    <p:sldId xmlns:r="http://schemas.openxmlformats.org/officeDocument/2006/relationships" id="263" r:id="R4a952e996a8c4de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d5978bc16a447f7" /><Relationship Type="http://schemas.openxmlformats.org/officeDocument/2006/relationships/slideMaster" Target="/ppt/slideMasters/slideMaster1.xml" Id="R87dd1db943354f3b" /><Relationship Type="http://schemas.openxmlformats.org/officeDocument/2006/relationships/notesMaster" Target="/ppt/notesMasters/notesMaster1.xml" Id="R7df1ee6830b643a1" /><Relationship Type="http://schemas.openxmlformats.org/officeDocument/2006/relationships/presProps" Target="/ppt/presProps.xml" Id="R68ec861cdcd24a7d" /><Relationship Type="http://schemas.openxmlformats.org/officeDocument/2006/relationships/tableStyles" Target="/ppt/tableStyles.xml" Id="R5558fed7dce34c95" /><Relationship Type="http://schemas.openxmlformats.org/officeDocument/2006/relationships/slide" Target="/ppt/slides/slide1.xml" Id="R91c0890d51be4d91" /><Relationship Type="http://schemas.openxmlformats.org/officeDocument/2006/relationships/slide" Target="/ppt/slides/slide2.xml" Id="R8bd648eb7fa24082" /><Relationship Type="http://schemas.openxmlformats.org/officeDocument/2006/relationships/slide" Target="/ppt/slides/slide3.xml" Id="R52101301dd1e4cf9" /><Relationship Type="http://schemas.openxmlformats.org/officeDocument/2006/relationships/slide" Target="/ppt/slides/slide4.xml" Id="R2b516bf293d24c7f" /><Relationship Type="http://schemas.openxmlformats.org/officeDocument/2006/relationships/slide" Target="/ppt/slides/slide5.xml" Id="Ra9755566f26848a5" /><Relationship Type="http://schemas.openxmlformats.org/officeDocument/2006/relationships/slide" Target="/ppt/slides/slide6.xml" Id="R3974c910389d49fb" /><Relationship Type="http://schemas.openxmlformats.org/officeDocument/2006/relationships/slide" Target="/ppt/slides/slide7.xml" Id="R3a2e71436de64c3b" /><Relationship Type="http://schemas.openxmlformats.org/officeDocument/2006/relationships/slide" Target="/ppt/slides/slide8.xml" Id="R4a952e996a8c4de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721f95940b64f7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1a26d457f9f4534" /><Relationship Type="http://schemas.openxmlformats.org/officeDocument/2006/relationships/notesMaster" Target="/ppt/notesMasters/notesMaster1.xml" Id="Rfde99317e3f94dd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154a49dccb140e4" /><Relationship Type="http://schemas.openxmlformats.org/officeDocument/2006/relationships/notesMaster" Target="/ppt/notesMasters/notesMaster1.xml" Id="Rb7a4aff3f2a54e6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3b1ac61c71044d4" /><Relationship Type="http://schemas.openxmlformats.org/officeDocument/2006/relationships/notesMaster" Target="/ppt/notesMasters/notesMaster1.xml" Id="Racc1c6a2cfbd480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556c7d5fb6043e5" /><Relationship Type="http://schemas.openxmlformats.org/officeDocument/2006/relationships/notesMaster" Target="/ppt/notesMasters/notesMaster1.xml" Id="R5e3f3b253e1d485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cadfc8a2b664043" /><Relationship Type="http://schemas.openxmlformats.org/officeDocument/2006/relationships/notesMaster" Target="/ppt/notesMasters/notesMaster1.xml" Id="R96dae203817f473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4d600c987914511" /><Relationship Type="http://schemas.openxmlformats.org/officeDocument/2006/relationships/notesMaster" Target="/ppt/notesMasters/notesMaster1.xml" Id="Ra2fc1c12226b499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85c826397ee471c" /><Relationship Type="http://schemas.openxmlformats.org/officeDocument/2006/relationships/notesMaster" Target="/ppt/notesMasters/notesMaster1.xml" Id="R0b64870865e2440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6d95ef6d4504e88" /><Relationship Type="http://schemas.openxmlformats.org/officeDocument/2006/relationships/notesMaster" Target="/ppt/notesMasters/notesMaster1.xml" Id="R37f438adef234ed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978c1628c94e9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e17be0687dc4905" /><Relationship Type="http://schemas.openxmlformats.org/officeDocument/2006/relationships/slideLayout" Target="/ppt/slideLayouts/slideLayout1.xml" Id="Ra57aadd3d9ad406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57aadd3d9ad406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2b072274f54805" /><Relationship Type="http://schemas.openxmlformats.org/officeDocument/2006/relationships/notesSlide" Target="/ppt/notesSlides/notesSlide1.xml" Id="R2f5559dee942445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0732b2681d4ddd" /><Relationship Type="http://schemas.openxmlformats.org/officeDocument/2006/relationships/chart" Target="/ppt/slides/charts/chart1.xml" Id="Re582cb5620ba4f2a" /><Relationship Type="http://schemas.openxmlformats.org/officeDocument/2006/relationships/notesSlide" Target="/ppt/notesSlides/notesSlide2.xml" Id="Rd576360545aa4cf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954b0edf3a4cb8" /><Relationship Type="http://schemas.openxmlformats.org/officeDocument/2006/relationships/notesSlide" Target="/ppt/notesSlides/notesSlide3.xml" Id="R0e1918cfb0d4451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9087bbb40e4dbd" /><Relationship Type="http://schemas.openxmlformats.org/officeDocument/2006/relationships/chart" Target="/ppt/slides/charts/chart2.xml" Id="R1d85871ee32f4e7c" /><Relationship Type="http://schemas.openxmlformats.org/officeDocument/2006/relationships/notesSlide" Target="/ppt/notesSlides/notesSlide4.xml" Id="R9ddd2f979e884be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f1cec750b949d3" /><Relationship Type="http://schemas.openxmlformats.org/officeDocument/2006/relationships/notesSlide" Target="/ppt/notesSlides/notesSlide5.xml" Id="R83c3e36c9a05404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c12be0e0734a3c" /><Relationship Type="http://schemas.openxmlformats.org/officeDocument/2006/relationships/notesSlide" Target="/ppt/notesSlides/notesSlide6.xml" Id="R31f2424af86b4b6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4813dab05d422a" /><Relationship Type="http://schemas.openxmlformats.org/officeDocument/2006/relationships/notesSlide" Target="/ppt/notesSlides/notesSlide7.xml" Id="R814c5ffbdb86454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d175fc019c40d1" /><Relationship Type="http://schemas.openxmlformats.org/officeDocument/2006/relationships/notesSlide" Target="/ppt/notesSlides/notesSlide8.xml" Id="Rb77580bdd7a4427c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train boxes</c:v>
          </c:tx>
          <c:spPr>
            <a:solidFill xmlns:a="http://schemas.openxmlformats.org/drawingml/2006/main">
              <a:srgbClr val="2D5CA8"/>
            </a:solidFill>
          </c:spPr>
          <c:dLbls/>
          <c:cat>
            <c:strLit>
              <c:ptCount val="3"/>
              <c:pt idx="0">
                <c:v>splash</c:v>
              </c:pt>
              <c:pt idx="1">
                <c:v>scratch</c:v>
              </c:pt>
              <c:pt idx="2">
                <c:v>chipping</c:v>
              </c:pt>
            </c:strLit>
          </c:cat>
          <c:val>
            <c:numLit>
              <c:formatCode>General</c:formatCode>
              <c:ptCount val="3"/>
              <c:pt idx="0">
                <c:v>2815</c:v>
              </c:pt>
              <c:pt idx="1">
                <c:v>364</c:v>
              </c:pt>
              <c:pt idx="2">
                <c:v>390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1">
                  <a:solidFill>
                    <a:srgbClr val="263D6B"/>
                  </a:solidFill>
                </a:defRPr>
              </a:pPr>
            </a:p>
          </c:txPr>
          <c:dLblPos val="outEnd"/>
          <c:showVal val="1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8FA4C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26A95"/>
                </a:solidFill>
              </a:defRPr>
            </a:pPr>
          </a:p>
        </c:txPr>
        <c:crossAx val="48650112"/>
        <c:crosses val="autoZero"/>
        <c:crossBetween val="between"/>
      </c:valAx>
    </c:plotArea>
    <c:plotVisOnly val="1"/>
  </c:chart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mAP50 (%)</c:v>
          </c:tx>
          <c:spPr>
            <a:solidFill xmlns:a="http://schemas.openxmlformats.org/drawingml/2006/main">
              <a:srgbClr val="2D5CA8"/>
            </a:solidFill>
          </c:spPr>
          <c:dLbls/>
          <c:cat>
            <c:strLit>
              <c:ptCount val="10"/>
              <c:pt idx="0">
                <c:v>n baseline</c:v>
              </c:pt>
              <c:pt idx="1">
                <c:v>s baseline</c:v>
              </c:pt>
              <c:pt idx="2">
                <c:v>m baseline</c:v>
              </c:pt>
              <c:pt idx="3">
                <c:v>recall aug</c:v>
              </c:pt>
              <c:pt idx="4">
                <c:v>long train</c:v>
              </c:pt>
              <c:pt idx="5">
                <c:v>offline aug</c:v>
              </c:pt>
              <c:pt idx="6">
                <c:v>2x2 tile</c:v>
              </c:pt>
              <c:pt idx="7">
                <c:v>binary 1280</c:v>
              </c:pt>
              <c:pt idx="8">
                <c:v>binary 1536</c:v>
              </c:pt>
              <c:pt idx="9">
                <c:v>CLAHE 1536</c:v>
              </c:pt>
            </c:strLit>
          </c:cat>
          <c:val>
            <c:numLit>
              <c:formatCode>General</c:formatCode>
              <c:ptCount val="10"/>
              <c:pt idx="0">
                <c:v>55.5</c:v>
              </c:pt>
              <c:pt idx="1">
                <c:v>59.5</c:v>
              </c:pt>
              <c:pt idx="2">
                <c:v>61.7</c:v>
              </c:pt>
              <c:pt idx="3">
                <c:v>59.8</c:v>
              </c:pt>
              <c:pt idx="4">
                <c:v>59.8</c:v>
              </c:pt>
              <c:pt idx="5">
                <c:v>57</c:v>
              </c:pt>
              <c:pt idx="6">
                <c:v>57.8</c:v>
              </c:pt>
              <c:pt idx="7">
                <c:v>66.4</c:v>
              </c:pt>
              <c:pt idx="8">
                <c:v>67.5</c:v>
              </c:pt>
              <c:pt idx="9">
                <c:v>66.2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263D6B"/>
                  </a:solidFill>
                </a:defRPr>
              </a:pPr>
            </a:p>
          </c:txPr>
          <c:dLblPos val="outEnd"/>
          <c:showVal val="1"/>
        </c:dLbls>
        <c:gapWidth val="3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7EB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26A95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8FA4C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263D6B"/>
                </a:solidFill>
              </a:defRPr>
            </a:pPr>
          </a:p>
        </c:txPr>
        <c:crossAx val="48650112"/>
        <c:crosses val="autoZero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AB39A76-D82D-4C45-A20D-709D69E3D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EA8"/>
          </a:solidFill>
          <a:ln xmlns:a="http://schemas.openxmlformats.org/drawingml/2006/main" w="0">
            <a:solidFill>
              <a:srgbClr val="2E5EA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53A1D2-6E6E-4F39-8C33-A0DB5CF55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5730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F6"/>
          </a:solidFill>
          <a:ln xmlns:a="http://schemas.openxmlformats.org/drawingml/2006/main" w="0">
            <a:solidFill>
              <a:srgbClr val="DCE7F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D2FF90-E233-4BA7-84BE-212971B61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"/>
            <a:ext cx="742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YOLO26 楔形片瑕疵检测：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F01DE8-D3AE-4B93-9968-20C5FA4EF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4290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C928"/>
                </a:solidFill>
              </a:defRPr>
            </a:pPr>
            <a:r>
              <a:rPr sz="3000" b="1">
                <a:solidFill>
                  <a:srgbClr val="FFC928"/>
                </a:solidFill>
              </a:rPr>
              <a:t>阶段性实验对比分析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16D379-D820-43B3-A4F2-4A7E53D49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62150"/>
            <a:ext cx="133350" cy="133350"/>
          </a:xfrm>
          <a:prstGeom xmlns:a="http://schemas.openxmlformats.org/drawingml/2006/main" prst="rect">
            <a:avLst/>
          </a:prstGeom>
          <a:ln xmlns:a="http://schemas.openxmlformats.org/drawingml/2006/main" w="28575">
            <a:solidFill>
              <a:srgbClr val="2E5EA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4ED0CA-94C0-40DC-A428-2EF446CAD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71650"/>
            <a:ext cx="647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E5EA8"/>
                </a:solidFill>
              </a:defRPr>
            </a:pPr>
            <a:r>
              <a:rPr sz="2025" b="1">
                <a:solidFill>
                  <a:srgbClr val="2E5EA8"/>
                </a:solidFill>
              </a:rPr>
              <a:t>汇报目标：对比多轮实验结果，确定当前有效方向与下一阶段工作重点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E07514-3E50-4886-BB16-C428D6E65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1465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63D6B"/>
                </a:solidFill>
              </a:defRPr>
            </a:pPr>
            <a:r>
              <a:rPr sz="1800" b="0">
                <a:solidFill>
                  <a:srgbClr val="263D6B"/>
                </a:solidFill>
              </a:rPr>
              <a:t>• 围绕三分类、二分类、增强、切图、预处理等路线进行对比。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9154D2-DD09-426C-88F7-9A44B8B1E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44805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63D6B"/>
                </a:solidFill>
              </a:defRPr>
            </a:pPr>
            <a:r>
              <a:rPr sz="1800" b="0">
                <a:solidFill>
                  <a:srgbClr val="263D6B"/>
                </a:solidFill>
              </a:rPr>
              <a:t>• 重点指标为 mAP50，同时关注 mAP50-95 与后续部署误报控制。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A3D2ED-E5E4-4FA1-9DB9-C13B02CA9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8145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63D6B"/>
                </a:solidFill>
              </a:defRPr>
            </a:pPr>
            <a:r>
              <a:rPr sz="1800" b="0">
                <a:solidFill>
                  <a:srgbClr val="263D6B"/>
                </a:solidFill>
              </a:rPr>
              <a:t>• 本文只记录已经确认的训练/验证结果，未运行内容不写成结论。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30FB04-2474-4D2D-90F4-B26B58E13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38350"/>
            <a:ext cx="3143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B91"/>
          </a:solidFill>
          <a:ln xmlns:a="http://schemas.openxmlformats.org/drawingml/2006/main" w="9525">
            <a:solidFill>
              <a:srgbClr val="1F4B9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80A040-B592-4DA3-AB0E-80A58FBB1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3431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当前最好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7E0EAE-CD2E-4AD9-8BF7-28DCA3180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914650"/>
            <a:ext cx="2286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FFFFFF"/>
                </a:solidFill>
              </a:defRPr>
            </a:pPr>
            <a:r>
              <a:rPr sz="5400" b="1">
                <a:solidFill>
                  <a:srgbClr val="FFFFFF"/>
                </a:solidFill>
              </a:rPr>
              <a:t>0.675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96F20A-F38C-4427-AF50-12BA5A1DA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31470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C928"/>
                </a:solidFill>
              </a:defRPr>
            </a:pPr>
            <a:r>
              <a:rPr sz="1500" b="1">
                <a:solidFill>
                  <a:srgbClr val="FFC928"/>
                </a:solidFill>
              </a:rPr>
              <a:t>mAP50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1F34D3-112A-4CA4-A7C1-A74F3F473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038600"/>
            <a:ext cx="2343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YOLO26m + 二分类 defect + imgsz1536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CBCE5E-AB45-43C1-9F28-E95F284EE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6291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DE8FA"/>
                </a:solidFill>
              </a:defRPr>
            </a:pPr>
            <a:r>
              <a:rPr sz="1350" b="0">
                <a:solidFill>
                  <a:srgbClr val="DDE8FA"/>
                </a:solidFill>
              </a:rPr>
              <a:t>mAP50-95 = 0.346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ED03BC-FEF5-4EFA-BF84-2591A92A8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1510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EA8"/>
          </a:solidFill>
          <a:ln xmlns:a="http://schemas.openxmlformats.org/drawingml/2006/main" w="0">
            <a:solidFill>
              <a:srgbClr val="2E5EA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DA5AF1-8D74-4C8D-ADD0-87759F7C1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103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E5EA8"/>
                </a:solidFill>
              </a:defRPr>
            </a:pPr>
            <a:r>
              <a:rPr sz="975" b="1">
                <a:solidFill>
                  <a:srgbClr val="2E5EA8"/>
                </a:solidFill>
              </a:rPr>
              <a:t>YOLO26 楔形片瑕疵检测阶段性实验汇报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CC263C-FD54-4F57-AA06-73A6E1737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6103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E5EA8"/>
                </a:solidFill>
              </a:defRPr>
            </a:pPr>
            <a:r>
              <a:rPr sz="975" b="1">
                <a:solidFill>
                  <a:srgbClr val="2E5EA8"/>
                </a:solidFill>
              </a:rPr>
              <a:t>第 1 页</a:t>
            </a:r>
          </a:p>
        </p:txBody>
      </p:sp>
    </p:spTree>
    <p:extLst>
      <p:ext uri="{BB962C8B-B14F-4D97-AF65-F5344CB8AC3E}">
        <p14:creationId xmlns:p14="http://schemas.microsoft.com/office/powerpoint/2010/main" val="4114776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F8EAE0F-495E-454B-A068-EF1D530CB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EA8"/>
          </a:solidFill>
          <a:ln xmlns:a="http://schemas.openxmlformats.org/drawingml/2006/main" w="0">
            <a:solidFill>
              <a:srgbClr val="2E5EA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1BDFDD-C653-47A9-B7A8-EB6CC9DEA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5730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F6"/>
          </a:solidFill>
          <a:ln xmlns:a="http://schemas.openxmlformats.org/drawingml/2006/main" w="0">
            <a:solidFill>
              <a:srgbClr val="DCE7F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A4900B-1D10-482E-8777-04AC2508F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"/>
            <a:ext cx="742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一、数据集与实验基础：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171CC8-7718-4ACD-851F-C47512874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4290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C928"/>
                </a:solidFill>
              </a:defRPr>
            </a:pPr>
            <a:r>
              <a:rPr sz="3000" b="1">
                <a:solidFill>
                  <a:srgbClr val="FFC928"/>
                </a:solidFill>
              </a:rPr>
              <a:t>类别分布</a:t>
            </a:r>
          </a:p>
        </p:txBody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590550" y="1638300"/>
          <a:ext xmlns:a="http://schemas.openxmlformats.org/drawingml/2006/main" cx="4953000" cy="20955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238250"/>
                <a:gridCol w="1238250"/>
                <a:gridCol w="1238250"/>
                <a:gridCol w="1238250"/>
              </a:tblGrid>
              <a:tr h="52387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集合</a:t>
                      </a:r>
                    </a:p>
                  </a:txBody>
                  <a:tcPr marL="91440" marR="91440" marT="45720" marB="45720">
                    <a:solidFill>
                      <a:srgbClr val="1F4B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图片</a:t>
                      </a:r>
                    </a:p>
                  </a:txBody>
                  <a:tcPr marL="91440" marR="91440" marT="45720" marB="45720">
                    <a:solidFill>
                      <a:srgbClr val="1F4B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标签</a:t>
                      </a:r>
                    </a:p>
                  </a:txBody>
                  <a:tcPr marL="91440" marR="91440" marT="45720" marB="45720">
                    <a:solidFill>
                      <a:srgbClr val="1F4B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目标框</a:t>
                      </a:r>
                    </a:p>
                  </a:txBody>
                  <a:tcPr marL="91440" marR="91440" marT="45720" marB="45720">
                    <a:solidFill>
                      <a:srgbClr val="1F4B91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63D6B"/>
                          </a:solidFill>
                        </a:rPr>
                        <a:t>train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63D6B"/>
                          </a:solidFill>
                        </a:rPr>
                        <a:t>565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63D6B"/>
                          </a:solidFill>
                        </a:rPr>
                        <a:t>565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63D6B"/>
                          </a:solidFill>
                        </a:rPr>
                        <a:t>3569</a:t>
                      </a:r>
                    </a:p>
                  </a:txBody>
                  <a:tcPr marL="91440" marR="91440" marT="45720" marB="45720"/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63D6B"/>
                          </a:solidFill>
                        </a:rPr>
                        <a:t>val</a:t>
                      </a:r>
                    </a:p>
                  </a:txBody>
                  <a:tcPr marL="91440" marR="91440" marT="45720" marB="4572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63D6B"/>
                          </a:solidFill>
                        </a:rPr>
                        <a:t>161</a:t>
                      </a:r>
                    </a:p>
                  </a:txBody>
                  <a:tcPr marL="91440" marR="91440" marT="45720" marB="4572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63D6B"/>
                          </a:solidFill>
                        </a:rPr>
                        <a:t>161</a:t>
                      </a:r>
                    </a:p>
                  </a:txBody>
                  <a:tcPr marL="91440" marR="91440" marT="45720" marB="4572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63D6B"/>
                          </a:solidFill>
                        </a:rPr>
                        <a:t>1121</a:t>
                      </a:r>
                    </a:p>
                  </a:txBody>
                  <a:tcPr marL="91440" marR="91440" marT="45720" marB="45720">
                    <a:solidFill>
                      <a:srgbClr val="F8F8F8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63D6B"/>
                          </a:solidFill>
                        </a:rPr>
                        <a:t>test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63D6B"/>
                          </a:solidFill>
                        </a:rPr>
                        <a:t>81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63D6B"/>
                          </a:solidFill>
                        </a:rPr>
                        <a:t>81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63D6B"/>
                          </a:solidFill>
                        </a:rPr>
                        <a:t>517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6191250" y="1600200"/>
          <a:ext xmlns:a="http://schemas.openxmlformats.org/drawingml/2006/main" cx="4953000" cy="2619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582cb5620ba4f2a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A9B7BB-C789-4196-BFEC-85B828198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0"/>
            <a:ext cx="105537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F"/>
          </a:solidFill>
          <a:ln xmlns:a="http://schemas.openxmlformats.org/drawingml/2006/main" w="9525">
            <a:solidFill>
              <a:srgbClr val="8FA4C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0A3D6E-9BF2-4A06-AA81-8B0F71C78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14850"/>
            <a:ext cx="962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63D6B"/>
                </a:solidFill>
              </a:defRPr>
            </a:pPr>
            <a:r>
              <a:rPr sz="1575" b="0">
                <a:solidFill>
                  <a:srgbClr val="263D6B"/>
                </a:solidFill>
              </a:rPr>
              <a:t>• 类别明显不均衡：splash 在 train 中有 2815 个框，scratch/chipping 分别为 364/390。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76066F-2308-4D24-BD2E-8AD3F8BB5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14900"/>
            <a:ext cx="962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B3345A"/>
                </a:solidFill>
              </a:defRPr>
            </a:pPr>
            <a:r>
              <a:rPr sz="1575" b="0">
                <a:solidFill>
                  <a:srgbClr val="B3345A"/>
                </a:solidFill>
              </a:rPr>
              <a:t>• scratch 在多轮实验中一直是主要瓶颈，且可视化显示其框标注存在不一致。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DC4237-B78C-4EDB-83C9-F8283C06F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1510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EA8"/>
          </a:solidFill>
          <a:ln xmlns:a="http://schemas.openxmlformats.org/drawingml/2006/main" w="0">
            <a:solidFill>
              <a:srgbClr val="2E5EA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89186E-C9FF-44D2-B895-BEB32CC1B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103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E5EA8"/>
                </a:solidFill>
              </a:defRPr>
            </a:pPr>
            <a:r>
              <a:rPr sz="975" b="1">
                <a:solidFill>
                  <a:srgbClr val="2E5EA8"/>
                </a:solidFill>
              </a:rPr>
              <a:t>YOLO26 楔形片瑕疵检测阶段性实验汇报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FE2F14-7768-4D58-B0B8-2546C3300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6103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E5EA8"/>
                </a:solidFill>
              </a:defRPr>
            </a:pPr>
            <a:r>
              <a:rPr sz="975" b="1">
                <a:solidFill>
                  <a:srgbClr val="2E5EA8"/>
                </a:solidFill>
              </a:rPr>
              <a:t>第 2 页</a:t>
            </a:r>
          </a:p>
        </p:txBody>
      </p:sp>
    </p:spTree>
    <p:extLst>
      <p:ext uri="{BB962C8B-B14F-4D97-AF65-F5344CB8AC3E}">
        <p14:creationId xmlns:p14="http://schemas.microsoft.com/office/powerpoint/2010/main" val="201199768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16F28CC-C660-45A5-BBDD-DC5E18952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EA8"/>
          </a:solidFill>
          <a:ln xmlns:a="http://schemas.openxmlformats.org/drawingml/2006/main" w="0">
            <a:solidFill>
              <a:srgbClr val="2E5EA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97F8A1-0F95-4654-8BE9-408EA4BAF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5730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F6"/>
          </a:solidFill>
          <a:ln xmlns:a="http://schemas.openxmlformats.org/drawingml/2006/main" w="0">
            <a:solidFill>
              <a:srgbClr val="DCE7F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B0DB3C-BAB0-4B7A-A3C8-8954BBDC7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"/>
            <a:ext cx="742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二、实验过程与技术路线：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C44C4C-B64B-4517-8733-ECCDDFB9A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4290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C928"/>
                </a:solidFill>
              </a:defRPr>
            </a:pPr>
            <a:r>
              <a:rPr sz="3000" b="1">
                <a:solidFill>
                  <a:srgbClr val="FFC928"/>
                </a:solidFill>
              </a:rPr>
              <a:t>路线梳理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6C7778-40FD-42E0-AA10-D586066E6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800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B"/>
          </a:solidFill>
          <a:ln xmlns:a="http://schemas.openxmlformats.org/drawingml/2006/main" w="9525">
            <a:solidFill>
              <a:srgbClr val="8FA4C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57C5E2-3004-42F9-A4FD-2C0F4BFD7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85925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63D6B"/>
                </a:solidFill>
              </a:defRPr>
            </a:pPr>
            <a:r>
              <a:rPr sz="1800" b="1">
                <a:solidFill>
                  <a:srgbClr val="263D6B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EB9CF2-707E-44EB-B1E5-B4E078F68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6002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63D6B"/>
                </a:solidFill>
              </a:defRPr>
            </a:pPr>
            <a:r>
              <a:rPr sz="1725" b="1">
                <a:solidFill>
                  <a:srgbClr val="263D6B"/>
                </a:solidFill>
              </a:rPr>
              <a:t>三尺度基线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94F3C4-C78B-4426-8097-CA1AD2C2E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905000"/>
            <a:ext cx="838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A95"/>
                </a:solidFill>
              </a:defRPr>
            </a:pPr>
            <a:r>
              <a:rPr sz="1350" b="0">
                <a:solidFill>
                  <a:srgbClr val="526A95"/>
                </a:solidFill>
              </a:rPr>
              <a:t>n/s/m 对比，确定 YOLO26m 为当前三分类基线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3B0056-3A05-4A15-8A4A-A4F52CCEA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800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B"/>
          </a:solidFill>
          <a:ln xmlns:a="http://schemas.openxmlformats.org/drawingml/2006/main" w="9525">
            <a:solidFill>
              <a:srgbClr val="8FA4C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52907E-4F23-47CD-B699-82804B8F3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66975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63D6B"/>
                </a:solidFill>
              </a:defRPr>
            </a:pPr>
            <a:r>
              <a:rPr sz="1800" b="1">
                <a:solidFill>
                  <a:srgbClr val="263D6B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E4D870-6C7E-4861-862B-08A8F20E1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3812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63D6B"/>
                </a:solidFill>
              </a:defRPr>
            </a:pPr>
            <a:r>
              <a:rPr sz="1725" b="1">
                <a:solidFill>
                  <a:srgbClr val="263D6B"/>
                </a:solidFill>
              </a:rPr>
              <a:t>增强与长训练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310AF0-3F8E-497F-9C84-964270B82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686050"/>
            <a:ext cx="838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A95"/>
                </a:solidFill>
              </a:defRPr>
            </a:pPr>
            <a:r>
              <a:rPr sz="1350" b="0">
                <a:solidFill>
                  <a:srgbClr val="526A95"/>
                </a:solidFill>
              </a:rPr>
              <a:t>在线增强、离线增强、长训练均未提升 mAP50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6431E3-0758-4824-8CB2-6D4A9E1A8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800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B"/>
          </a:solidFill>
          <a:ln xmlns:a="http://schemas.openxmlformats.org/drawingml/2006/main" w="9525">
            <a:solidFill>
              <a:srgbClr val="8FA4C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9FEB5B-A81E-45C4-B075-66A157E9A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48025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63D6B"/>
                </a:solidFill>
              </a:defRPr>
            </a:pPr>
            <a:r>
              <a:rPr sz="1800" b="1">
                <a:solidFill>
                  <a:srgbClr val="263D6B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A56867-8BED-40D2-B54B-3AD95DFBD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1623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63D6B"/>
                </a:solidFill>
              </a:defRPr>
            </a:pPr>
            <a:r>
              <a:rPr sz="1725" b="1">
                <a:solidFill>
                  <a:srgbClr val="263D6B"/>
                </a:solidFill>
              </a:rPr>
              <a:t>切图训练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D3B43F-554E-42C5-8C27-88F9DB15F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467100"/>
            <a:ext cx="838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A95"/>
                </a:solidFill>
              </a:defRPr>
            </a:pPr>
            <a:r>
              <a:rPr sz="1350" b="0">
                <a:solidFill>
                  <a:srgbClr val="526A95"/>
                </a:solidFill>
              </a:rPr>
              <a:t>2x2 非重叠切图下降，说明上下文很重要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780DEC-06CF-41BB-B600-2E558019A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24300"/>
            <a:ext cx="800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B91"/>
          </a:solidFill>
          <a:ln xmlns:a="http://schemas.openxmlformats.org/drawingml/2006/main" w="9525">
            <a:solidFill>
              <a:srgbClr val="1F4B9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C1A19F-4AC8-422D-A1CA-50AE4D8DF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29075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86F284-1B75-431B-B2FD-D4BCFC019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9433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63D6B"/>
                </a:solidFill>
              </a:defRPr>
            </a:pPr>
            <a:r>
              <a:rPr sz="1725" b="1">
                <a:solidFill>
                  <a:srgbClr val="263D6B"/>
                </a:solidFill>
              </a:rPr>
              <a:t>二分类诊断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8FAA2E-779A-408C-B91B-E5FD39BE4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248150"/>
            <a:ext cx="838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A95"/>
                </a:solidFill>
              </a:defRPr>
            </a:pPr>
            <a:r>
              <a:rPr sz="1350" b="0">
                <a:solidFill>
                  <a:srgbClr val="526A95"/>
                </a:solidFill>
              </a:rPr>
              <a:t>合并为 defect 后 mAP50 提升，类别边界确有影响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DA049A-F3DD-4898-AE19-B8D95F1C2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05350"/>
            <a:ext cx="800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B"/>
          </a:solidFill>
          <a:ln xmlns:a="http://schemas.openxmlformats.org/drawingml/2006/main" w="9525">
            <a:solidFill>
              <a:srgbClr val="8FA4C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22BB5C-7530-4525-8875-438618203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10125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63D6B"/>
                </a:solidFill>
              </a:defRPr>
            </a:pPr>
            <a:r>
              <a:rPr sz="1800" b="1">
                <a:solidFill>
                  <a:srgbClr val="263D6B"/>
                </a:solidFill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A80E436-092D-4C1A-99F3-9C580EF8D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7244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63D6B"/>
                </a:solidFill>
              </a:defRPr>
            </a:pPr>
            <a:r>
              <a:rPr sz="1725" b="1">
                <a:solidFill>
                  <a:srgbClr val="263D6B"/>
                </a:solidFill>
              </a:rPr>
              <a:t>高分辨率/CLAHE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66859D8-39F0-4BE6-B1CC-9F19A37FA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029200"/>
            <a:ext cx="838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A95"/>
                </a:solidFill>
              </a:defRPr>
            </a:pPr>
            <a:r>
              <a:rPr sz="1350" b="0">
                <a:solidFill>
                  <a:srgbClr val="526A95"/>
                </a:solidFill>
              </a:rPr>
              <a:t>1536 小幅增益；CLAHE 提召回但误报风险上升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ECF3908-1ABC-4FB1-96E5-547412470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1510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EA8"/>
          </a:solidFill>
          <a:ln xmlns:a="http://schemas.openxmlformats.org/drawingml/2006/main" w="0">
            <a:solidFill>
              <a:srgbClr val="2E5EA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B30D025-8CC6-447E-AC9A-95AEB6D63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103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E5EA8"/>
                </a:solidFill>
              </a:defRPr>
            </a:pPr>
            <a:r>
              <a:rPr sz="975" b="1">
                <a:solidFill>
                  <a:srgbClr val="2E5EA8"/>
                </a:solidFill>
              </a:rPr>
              <a:t>YOLO26 楔形片瑕疵检测阶段性实验汇报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CE90914-C958-4F47-8203-206F74319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6103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E5EA8"/>
                </a:solidFill>
              </a:defRPr>
            </a:pPr>
            <a:r>
              <a:rPr sz="975" b="1">
                <a:solidFill>
                  <a:srgbClr val="2E5EA8"/>
                </a:solidFill>
              </a:rPr>
              <a:t>第 3 页</a:t>
            </a:r>
          </a:p>
        </p:txBody>
      </p:sp>
    </p:spTree>
    <p:extLst>
      <p:ext uri="{BB962C8B-B14F-4D97-AF65-F5344CB8AC3E}">
        <p14:creationId xmlns:p14="http://schemas.microsoft.com/office/powerpoint/2010/main" val="86999540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014332E-DB89-412B-955D-240CB2BCE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EA8"/>
          </a:solidFill>
          <a:ln xmlns:a="http://schemas.openxmlformats.org/drawingml/2006/main" w="0">
            <a:solidFill>
              <a:srgbClr val="2E5EA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9C36A5-2C32-479D-84FC-641C065FE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5730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F6"/>
          </a:solidFill>
          <a:ln xmlns:a="http://schemas.openxmlformats.org/drawingml/2006/main" w="0">
            <a:solidFill>
              <a:srgbClr val="DCE7F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A583AA-5B4D-4355-B64E-153764A44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"/>
            <a:ext cx="742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三、实验结果与对比分析：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5FA75A-7248-45CF-ACFD-0B82BC551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4290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C928"/>
                </a:solidFill>
              </a:defRPr>
            </a:pPr>
            <a:r>
              <a:rPr sz="3000" b="1">
                <a:solidFill>
                  <a:srgbClr val="FFC928"/>
                </a:solidFill>
              </a:rPr>
              <a:t>核心指标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666750" y="1581150"/>
          <a:ext xmlns:a="http://schemas.openxmlformats.org/drawingml/2006/main" cx="723900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d85871ee32f4e7c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C7F5CB-E8EC-4508-B599-342D6C2C1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657350"/>
            <a:ext cx="28575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B91"/>
          </a:solidFill>
          <a:ln xmlns:a="http://schemas.openxmlformats.org/drawingml/2006/main" w="9525">
            <a:solidFill>
              <a:srgbClr val="1F4B9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677A4E-637F-49AC-A2B8-A85649958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9621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关键读数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267B60-199F-40CE-A352-1D745A68C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495550"/>
            <a:ext cx="1809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FFFFFF"/>
                </a:solidFill>
              </a:defRPr>
            </a:pPr>
            <a:r>
              <a:rPr sz="4200" b="1">
                <a:solidFill>
                  <a:srgbClr val="FFFFFF"/>
                </a:solidFill>
              </a:rPr>
              <a:t>0.675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2E2F31-44FE-4AFB-93CB-AAEF44E87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18135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DE8FA"/>
                </a:solidFill>
              </a:defRPr>
            </a:pPr>
            <a:r>
              <a:rPr sz="1350" b="0">
                <a:solidFill>
                  <a:srgbClr val="DDE8FA"/>
                </a:solidFill>
              </a:rPr>
              <a:t>当前最高 mAP50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CDD788-D588-4C72-96EF-981920328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7147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C928"/>
                </a:solidFill>
              </a:defRPr>
            </a:pPr>
            <a:r>
              <a:rPr sz="2550" b="1">
                <a:solidFill>
                  <a:srgbClr val="FFC928"/>
                </a:solidFill>
              </a:rPr>
              <a:t>+0.058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0345FA-4C9C-4439-A358-F25272184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171950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DE8FA"/>
                </a:solidFill>
              </a:defRPr>
            </a:pPr>
            <a:r>
              <a:rPr sz="1275" b="0">
                <a:solidFill>
                  <a:srgbClr val="DDE8FA"/>
                </a:solidFill>
              </a:rPr>
              <a:t>相比三分类 YOLO26m baseline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A123BF-40D5-461A-9AF8-E9DC43661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1510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EA8"/>
          </a:solidFill>
          <a:ln xmlns:a="http://schemas.openxmlformats.org/drawingml/2006/main" w="0">
            <a:solidFill>
              <a:srgbClr val="2E5EA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CA0A9A-21ED-49E3-BD87-5AFD95039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103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E5EA8"/>
                </a:solidFill>
              </a:defRPr>
            </a:pPr>
            <a:r>
              <a:rPr sz="975" b="1">
                <a:solidFill>
                  <a:srgbClr val="2E5EA8"/>
                </a:solidFill>
              </a:rPr>
              <a:t>YOLO26 楔形片瑕疵检测阶段性实验汇报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4E14BD-EC5E-4627-B379-0C3E04B68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6103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E5EA8"/>
                </a:solidFill>
              </a:defRPr>
            </a:pPr>
            <a:r>
              <a:rPr sz="975" b="1">
                <a:solidFill>
                  <a:srgbClr val="2E5EA8"/>
                </a:solidFill>
              </a:rPr>
              <a:t>第 4 页</a:t>
            </a:r>
          </a:p>
        </p:txBody>
      </p:sp>
    </p:spTree>
    <p:extLst>
      <p:ext uri="{BB962C8B-B14F-4D97-AF65-F5344CB8AC3E}">
        <p14:creationId xmlns:p14="http://schemas.microsoft.com/office/powerpoint/2010/main" val="171923974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FAF9E04-3E35-41F1-AE95-B5CFE42DF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EA8"/>
          </a:solidFill>
          <a:ln xmlns:a="http://schemas.openxmlformats.org/drawingml/2006/main" w="0">
            <a:solidFill>
              <a:srgbClr val="2E5EA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7C885E-F8FE-45D7-B8FA-6DA6E9701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5730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F6"/>
          </a:solidFill>
          <a:ln xmlns:a="http://schemas.openxmlformats.org/drawingml/2006/main" w="0">
            <a:solidFill>
              <a:srgbClr val="DCE7F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D3DA8D-4CB4-42AF-950D-3BB99711D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"/>
            <a:ext cx="742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三、实验结果与对比分析：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A46648-83BB-447E-A1D6-65452DD92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4290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C928"/>
                </a:solidFill>
              </a:defRPr>
            </a:pPr>
            <a:r>
              <a:rPr sz="3000" b="1">
                <a:solidFill>
                  <a:srgbClr val="FFC928"/>
                </a:solidFill>
              </a:rPr>
              <a:t>阶段结论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514350" y="1504950"/>
          <a:ext xmlns:a="http://schemas.openxmlformats.org/drawingml/2006/main" cx="11163300" cy="37338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418936"/>
                <a:gridCol w="3078646"/>
                <a:gridCol w="1047750"/>
                <a:gridCol w="4617968"/>
              </a:tblGrid>
              <a:tr h="46672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实验方向</a:t>
                      </a:r>
                    </a:p>
                  </a:txBody>
                  <a:tcPr marL="91440" marR="91440" marT="45720" marB="45720">
                    <a:solidFill>
                      <a:srgbClr val="1F4B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代表实验</a:t>
                      </a:r>
                    </a:p>
                  </a:txBody>
                  <a:tcPr marL="91440" marR="91440" marT="45720" marB="45720">
                    <a:solidFill>
                      <a:srgbClr val="1F4B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mAP50</a:t>
                      </a:r>
                    </a:p>
                  </a:txBody>
                  <a:tcPr marL="91440" marR="91440" marT="45720" marB="45720">
                    <a:solidFill>
                      <a:srgbClr val="1F4B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结论</a:t>
                      </a:r>
                    </a:p>
                  </a:txBody>
                  <a:tcPr marL="91440" marR="91440" marT="45720" marB="45720">
                    <a:solidFill>
                      <a:srgbClr val="1F4B91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63D6B"/>
                          </a:solidFill>
                        </a:rPr>
                        <a:t>三分类基线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63D6B"/>
                          </a:solidFill>
                        </a:rPr>
                        <a:t>YOLO26m baseline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63D6B"/>
                          </a:solidFill>
                        </a:rPr>
                        <a:t>0.617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63D6B"/>
                          </a:solidFill>
                        </a:rPr>
                        <a:t>scratch 是主要短板</a:t>
                      </a:r>
                    </a:p>
                  </a:txBody>
                  <a:tcPr marL="91440" marR="91440" marT="45720" marB="45720"/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63D6B"/>
                          </a:solidFill>
                        </a:rPr>
                        <a:t>在线增强</a:t>
                      </a:r>
                    </a:p>
                  </a:txBody>
                  <a:tcPr marL="91440" marR="91440" marT="45720" marB="4572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63D6B"/>
                          </a:solidFill>
                        </a:rPr>
                        <a:t>recall_aug_v1</a:t>
                      </a:r>
                    </a:p>
                  </a:txBody>
                  <a:tcPr marL="91440" marR="91440" marT="45720" marB="4572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63D6B"/>
                          </a:solidFill>
                        </a:rPr>
                        <a:t>0.598</a:t>
                      </a:r>
                    </a:p>
                  </a:txBody>
                  <a:tcPr marL="91440" marR="91440" marT="45720" marB="4572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63D6B"/>
                          </a:solidFill>
                        </a:rPr>
                        <a:t>召回略升但总体下降</a:t>
                      </a:r>
                    </a:p>
                  </a:txBody>
                  <a:tcPr marL="91440" marR="91440" marT="45720" marB="45720">
                    <a:solidFill>
                      <a:srgbClr val="F8F8F8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63D6B"/>
                          </a:solidFill>
                        </a:rPr>
                        <a:t>长训练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63D6B"/>
                          </a:solidFill>
                        </a:rPr>
                        <a:t>no_aug_longer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63D6B"/>
                          </a:solidFill>
                        </a:rPr>
                        <a:t>0.598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63D6B"/>
                          </a:solidFill>
                        </a:rPr>
                        <a:t>不是训练轮数不足</a:t>
                      </a:r>
                    </a:p>
                  </a:txBody>
                  <a:tcPr marL="91440" marR="91440" marT="45720" marB="45720"/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63D6B"/>
                          </a:solidFill>
                        </a:rPr>
                        <a:t>离线增强</a:t>
                      </a:r>
                    </a:p>
                  </a:txBody>
                  <a:tcPr marL="91440" marR="91440" marT="45720" marB="4572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63D6B"/>
                          </a:solidFill>
                        </a:rPr>
                        <a:t>offline_aug_no_splash</a:t>
                      </a:r>
                    </a:p>
                  </a:txBody>
                  <a:tcPr marL="91440" marR="91440" marT="45720" marB="4572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63D6B"/>
                          </a:solidFill>
                        </a:rPr>
                        <a:t>0.570</a:t>
                      </a:r>
                    </a:p>
                  </a:txBody>
                  <a:tcPr marL="91440" marR="91440" marT="45720" marB="4572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63D6B"/>
                          </a:solidFill>
                        </a:rPr>
                        <a:t>少数类增强未解决问题</a:t>
                      </a:r>
                    </a:p>
                  </a:txBody>
                  <a:tcPr marL="91440" marR="91440" marT="45720" marB="45720">
                    <a:solidFill>
                      <a:srgbClr val="F8F8F8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63D6B"/>
                          </a:solidFill>
                        </a:rPr>
                        <a:t>2x2 切图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63D6B"/>
                          </a:solidFill>
                        </a:rPr>
                        <a:t>tile_2x2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63D6B"/>
                          </a:solidFill>
                        </a:rPr>
                        <a:t>0.578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63D6B"/>
                          </a:solidFill>
                        </a:rPr>
                        <a:t>上下文被破坏</a:t>
                      </a:r>
                    </a:p>
                  </a:txBody>
                  <a:tcPr marL="91440" marR="91440" marT="45720" marB="45720"/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63D6B"/>
                          </a:solidFill>
                        </a:rPr>
                        <a:t>二分类</a:t>
                      </a:r>
                    </a:p>
                  </a:txBody>
                  <a:tcPr marL="91440" marR="91440" marT="45720" marB="4572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63D6B"/>
                          </a:solidFill>
                        </a:rPr>
                        <a:t>binary_defect_img1536</a:t>
                      </a:r>
                    </a:p>
                  </a:txBody>
                  <a:tcPr marL="91440" marR="91440" marT="45720" marB="4572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C928"/>
                          </a:solidFill>
                        </a:rPr>
                        <a:t>0.675</a:t>
                      </a:r>
                    </a:p>
                  </a:txBody>
                  <a:tcPr marL="91440" marR="91440" marT="45720" marB="45720">
                    <a:solidFill>
                      <a:srgbClr val="FF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63D6B"/>
                          </a:solidFill>
                        </a:rPr>
                        <a:t>当前最好方向</a:t>
                      </a:r>
                    </a:p>
                  </a:txBody>
                  <a:tcPr marL="91440" marR="91440" marT="45720" marB="45720">
                    <a:solidFill>
                      <a:srgbClr val="F8F8F8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63D6B"/>
                          </a:solidFill>
                        </a:rPr>
                        <a:t>CLAHE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63D6B"/>
                          </a:solidFill>
                        </a:rPr>
                        <a:t>binary_defect_clahe_img1536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63D6B"/>
                          </a:solidFill>
                        </a:rPr>
                        <a:t>0.662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63D6B"/>
                          </a:solidFill>
                        </a:rPr>
                        <a:t>误检风险上升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6B7C85-6D5A-4652-A33C-6B4615BB9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A95"/>
                </a:solidFill>
              </a:defRPr>
            </a:pPr>
            <a:r>
              <a:rPr sz="1200" b="0">
                <a:solidFill>
                  <a:srgbClr val="526A95"/>
                </a:solidFill>
              </a:rPr>
              <a:t>注：以上均为已确认验证集结果；阈值测试尚未记录实际 test 输出。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ACEDF5-AC70-4273-B8B2-B9438FC61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1510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EA8"/>
          </a:solidFill>
          <a:ln xmlns:a="http://schemas.openxmlformats.org/drawingml/2006/main" w="0">
            <a:solidFill>
              <a:srgbClr val="2E5EA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8B649B-BE1A-429C-BA92-3DED11F6A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103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E5EA8"/>
                </a:solidFill>
              </a:defRPr>
            </a:pPr>
            <a:r>
              <a:rPr sz="975" b="1">
                <a:solidFill>
                  <a:srgbClr val="2E5EA8"/>
                </a:solidFill>
              </a:rPr>
              <a:t>YOLO26 楔形片瑕疵检测阶段性实验汇报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B2DC10-403E-4E7B-9736-B9EEDBD69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6103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E5EA8"/>
                </a:solidFill>
              </a:defRPr>
            </a:pPr>
            <a:r>
              <a:rPr sz="975" b="1">
                <a:solidFill>
                  <a:srgbClr val="2E5EA8"/>
                </a:solidFill>
              </a:rPr>
              <a:t>第 5 页</a:t>
            </a:r>
          </a:p>
        </p:txBody>
      </p:sp>
    </p:spTree>
    <p:extLst>
      <p:ext uri="{BB962C8B-B14F-4D97-AF65-F5344CB8AC3E}">
        <p14:creationId xmlns:p14="http://schemas.microsoft.com/office/powerpoint/2010/main" val="191717691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AD01775-FA02-43E8-A65C-E0D719384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EA8"/>
          </a:solidFill>
          <a:ln xmlns:a="http://schemas.openxmlformats.org/drawingml/2006/main" w="0">
            <a:solidFill>
              <a:srgbClr val="2E5EA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ABBC3C-7B23-42E6-A2C4-A93B59C73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5730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F6"/>
          </a:solidFill>
          <a:ln xmlns:a="http://schemas.openxmlformats.org/drawingml/2006/main" w="0">
            <a:solidFill>
              <a:srgbClr val="DCE7F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F2D948-68FC-4C8E-B633-29E8516FA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"/>
            <a:ext cx="742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四、关键问题与原因分析：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234A9C-F85A-4622-9D8D-372017669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4290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C928"/>
                </a:solidFill>
              </a:defRPr>
            </a:pPr>
            <a:r>
              <a:rPr sz="3000" b="1">
                <a:solidFill>
                  <a:srgbClr val="FFC928"/>
                </a:solidFill>
              </a:rPr>
              <a:t>无效方向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51C7F4-A93F-4108-B51F-E53E4A0B3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3238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F"/>
          </a:solidFill>
          <a:ln xmlns:a="http://schemas.openxmlformats.org/drawingml/2006/main" w="9525">
            <a:solidFill>
              <a:srgbClr val="8FA4C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3BB11C-7C8B-4E9F-A7A5-593450768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9621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63D6B"/>
                </a:solidFill>
              </a:defRPr>
            </a:pPr>
            <a:r>
              <a:rPr sz="2100" b="1">
                <a:solidFill>
                  <a:srgbClr val="263D6B"/>
                </a:solidFill>
              </a:rPr>
              <a:t>增强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137900-AE37-4CA4-AA58-9FDB165C3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146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C928"/>
                </a:solidFill>
              </a:defRPr>
            </a:pPr>
            <a:r>
              <a:rPr sz="2550" b="1">
                <a:solidFill>
                  <a:srgbClr val="FFC928"/>
                </a:solidFill>
              </a:rPr>
              <a:t>0.598 / 0.570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36F4F1-5090-4AEE-B1D3-79FA5C822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527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A95"/>
                </a:solidFill>
              </a:defRPr>
            </a:pPr>
            <a:r>
              <a:rPr sz="1200" b="0">
                <a:solidFill>
                  <a:srgbClr val="526A95"/>
                </a:solidFill>
              </a:rPr>
              <a:t>mAP50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DF16BA-F48D-4617-A9BD-765B30FD4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48050"/>
            <a:ext cx="26860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63D6B"/>
                </a:solidFill>
              </a:defRPr>
            </a:pPr>
            <a:r>
              <a:rPr sz="1425" b="0">
                <a:solidFill>
                  <a:srgbClr val="263D6B"/>
                </a:solidFill>
              </a:rPr>
              <a:t>在线增强和离线增强均使 mAP50 下降；说明问题不只是样本数量或轻微变换不足。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35A212-0EF8-4FEF-819E-F0C6D4AE7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657350"/>
            <a:ext cx="3238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F"/>
          </a:solidFill>
          <a:ln xmlns:a="http://schemas.openxmlformats.org/drawingml/2006/main" w="9525">
            <a:solidFill>
              <a:srgbClr val="8FA4C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C9B167-75CD-4122-B60E-0229111DB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9621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63D6B"/>
                </a:solidFill>
              </a:defRPr>
            </a:pPr>
            <a:r>
              <a:rPr sz="2100" b="1">
                <a:solidFill>
                  <a:srgbClr val="263D6B"/>
                </a:solidFill>
              </a:rPr>
              <a:t>切图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05FD4B-46F2-42E8-9338-DD5D6E336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5146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C928"/>
                </a:solidFill>
              </a:defRPr>
            </a:pPr>
            <a:r>
              <a:rPr sz="2550" b="1">
                <a:solidFill>
                  <a:srgbClr val="FFC928"/>
                </a:solidFill>
              </a:rPr>
              <a:t>0.578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AE434D-CE06-4E90-8B86-79D2BEE6B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9527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A95"/>
                </a:solidFill>
              </a:defRPr>
            </a:pPr>
            <a:r>
              <a:rPr sz="1200" b="0">
                <a:solidFill>
                  <a:srgbClr val="526A95"/>
                </a:solidFill>
              </a:rPr>
              <a:t>mAP50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00145D-6BDE-46D7-82FC-70A2A937A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448050"/>
            <a:ext cx="26860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63D6B"/>
                </a:solidFill>
              </a:defRPr>
            </a:pPr>
            <a:r>
              <a:rPr sz="1425" b="0">
                <a:solidFill>
                  <a:srgbClr val="263D6B"/>
                </a:solidFill>
              </a:rPr>
              <a:t>2x2 切图让 scratch 和 chipping 下降；圆形边缘与全局上下文被破坏。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7EC8F0-43C4-485E-A7FE-000DB2C87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657350"/>
            <a:ext cx="3238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F"/>
          </a:solidFill>
          <a:ln xmlns:a="http://schemas.openxmlformats.org/drawingml/2006/main" w="9525">
            <a:solidFill>
              <a:srgbClr val="8FA4C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E8F027-F937-4989-A01B-3389DA4B1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9621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63D6B"/>
                </a:solidFill>
              </a:defRPr>
            </a:pPr>
            <a:r>
              <a:rPr sz="2100" b="1">
                <a:solidFill>
                  <a:srgbClr val="263D6B"/>
                </a:solidFill>
              </a:rPr>
              <a:t>CLAHE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40BFB8-3F15-4CDB-B6B8-BEAF6AEA1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5146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C928"/>
                </a:solidFill>
              </a:defRPr>
            </a:pPr>
            <a:r>
              <a:rPr sz="2550" b="1">
                <a:solidFill>
                  <a:srgbClr val="FFC928"/>
                </a:solidFill>
              </a:rPr>
              <a:t>0.662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010F6D-9C1E-44EC-A586-02619B29D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9527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A95"/>
                </a:solidFill>
              </a:defRPr>
            </a:pPr>
            <a:r>
              <a:rPr sz="1200" b="0">
                <a:solidFill>
                  <a:srgbClr val="526A95"/>
                </a:solidFill>
              </a:rPr>
              <a:t>mAP50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DA49B9-9A19-49A3-BCE9-3D3257880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448050"/>
            <a:ext cx="26860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63D6B"/>
                </a:solidFill>
              </a:defRPr>
            </a:pPr>
            <a:r>
              <a:rPr sz="1425" b="0">
                <a:solidFill>
                  <a:srgbClr val="263D6B"/>
                </a:solidFill>
              </a:rPr>
              <a:t>Recall 提高但 Precision 下降；背景纹理被一起增强，误检风险变高。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2D5CFF-58F2-4A55-A843-42344EA5E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1510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EA8"/>
          </a:solidFill>
          <a:ln xmlns:a="http://schemas.openxmlformats.org/drawingml/2006/main" w="0">
            <a:solidFill>
              <a:srgbClr val="2E5EA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37287A-5720-4582-87A9-9D83AE064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103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E5EA8"/>
                </a:solidFill>
              </a:defRPr>
            </a:pPr>
            <a:r>
              <a:rPr sz="975" b="1">
                <a:solidFill>
                  <a:srgbClr val="2E5EA8"/>
                </a:solidFill>
              </a:rPr>
              <a:t>YOLO26 楔形片瑕疵检测阶段性实验汇报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0AC37F-2D97-4A6B-A769-A4DDB249B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6103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E5EA8"/>
                </a:solidFill>
              </a:defRPr>
            </a:pPr>
            <a:r>
              <a:rPr sz="975" b="1">
                <a:solidFill>
                  <a:srgbClr val="2E5EA8"/>
                </a:solidFill>
              </a:rPr>
              <a:t>第 6 页</a:t>
            </a:r>
          </a:p>
        </p:txBody>
      </p:sp>
    </p:spTree>
    <p:extLst>
      <p:ext uri="{BB962C8B-B14F-4D97-AF65-F5344CB8AC3E}">
        <p14:creationId xmlns:p14="http://schemas.microsoft.com/office/powerpoint/2010/main" val="156635765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CAEA66C-53EA-44D1-8BA2-DD8B2A2BD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EA8"/>
          </a:solidFill>
          <a:ln xmlns:a="http://schemas.openxmlformats.org/drawingml/2006/main" w="0">
            <a:solidFill>
              <a:srgbClr val="2E5EA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76A16D-656C-4E49-B6F2-F67DF7FBC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5730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F6"/>
          </a:solidFill>
          <a:ln xmlns:a="http://schemas.openxmlformats.org/drawingml/2006/main" w="0">
            <a:solidFill>
              <a:srgbClr val="DCE7F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FF2D0C-DB01-42F3-A74F-463577CE0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"/>
            <a:ext cx="742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四、关键问题与原因分析：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4D86CC-277D-4EDD-9B3A-CFE766D09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4290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C928"/>
                </a:solidFill>
              </a:defRPr>
            </a:pPr>
            <a:r>
              <a:rPr sz="3000" b="1">
                <a:solidFill>
                  <a:srgbClr val="FFC928"/>
                </a:solidFill>
              </a:rPr>
              <a:t>主要瓶颈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2CE90D-4528-4CE2-AD86-51E84DD45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19250"/>
            <a:ext cx="51435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B91"/>
          </a:solidFill>
          <a:ln xmlns:a="http://schemas.openxmlformats.org/drawingml/2006/main" w="9525">
            <a:solidFill>
              <a:srgbClr val="1F4B9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0DED0E-E80D-415E-9AA4-437ED091D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002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核心发现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3D905A-0F45-4411-9EC3-3B593E043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4795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• 二分类提升说明类别边界拖累三分类。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299617-EC1A-49ED-9037-20060334D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05150"/>
            <a:ext cx="409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• mAP50-95 没有明显提升，定位质量仍不稳定。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B32CA4-1A02-440B-B1D5-A516D6322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14750"/>
            <a:ext cx="409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• 可视化显示 scratch 存在多框、重叠、尺度不统一问题。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3F3638-8F02-460C-BBF6-C588CC0B7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3865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• 最终部署还需要量化正常图误报。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1F1426-7F11-4614-8CD7-6078F2466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478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63D6B"/>
                </a:solidFill>
              </a:defRPr>
            </a:pPr>
            <a:r>
              <a:rPr sz="2100" b="1">
                <a:solidFill>
                  <a:srgbClr val="263D6B"/>
                </a:solidFill>
              </a:rPr>
              <a:t>阶段结论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994EF5-492C-4555-B347-3E219640C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00300"/>
            <a:ext cx="4381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63D6B"/>
                </a:solidFill>
              </a:defRPr>
            </a:pPr>
            <a:r>
              <a:rPr sz="1800" b="0">
                <a:solidFill>
                  <a:srgbClr val="263D6B"/>
                </a:solidFill>
              </a:rPr>
              <a:t>继续调普通增强、继续切图或拉长训练，预计收益有限。下一阶段应围绕“阈值-误报权衡”和“scratch 标注清洗”展开。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21BE29-F66F-4F0C-A7DD-301366266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905250"/>
            <a:ext cx="4095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8FA4C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47CAD1-206C-4434-8728-4C1673FCD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15290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63D6B"/>
                </a:solidFill>
              </a:defRPr>
            </a:pPr>
            <a:r>
              <a:rPr sz="1650" b="1">
                <a:solidFill>
                  <a:srgbClr val="263D6B"/>
                </a:solidFill>
              </a:rPr>
              <a:t>推荐主线：binary defect + imgsz1536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75B5C4-EA36-4A76-8C01-44ED3BEEF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457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A95"/>
                </a:solidFill>
              </a:defRPr>
            </a:pPr>
            <a:r>
              <a:rPr sz="1350" b="0">
                <a:solidFill>
                  <a:srgbClr val="526A95"/>
                </a:solidFill>
              </a:rPr>
              <a:t>当前最好 mAP50 0.675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09676B-8902-4326-8288-A02E6F35F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1510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EA8"/>
          </a:solidFill>
          <a:ln xmlns:a="http://schemas.openxmlformats.org/drawingml/2006/main" w="0">
            <a:solidFill>
              <a:srgbClr val="2E5EA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E623B8-E1EE-4367-8348-2E4A2C4F2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103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E5EA8"/>
                </a:solidFill>
              </a:defRPr>
            </a:pPr>
            <a:r>
              <a:rPr sz="975" b="1">
                <a:solidFill>
                  <a:srgbClr val="2E5EA8"/>
                </a:solidFill>
              </a:rPr>
              <a:t>YOLO26 楔形片瑕疵检测阶段性实验汇报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6AE4A0-1A0E-48B3-99C2-54F3468FC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6103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E5EA8"/>
                </a:solidFill>
              </a:defRPr>
            </a:pPr>
            <a:r>
              <a:rPr sz="975" b="1">
                <a:solidFill>
                  <a:srgbClr val="2E5EA8"/>
                </a:solidFill>
              </a:rPr>
              <a:t>第 7 页</a:t>
            </a:r>
          </a:p>
        </p:txBody>
      </p:sp>
    </p:spTree>
    <p:extLst>
      <p:ext uri="{BB962C8B-B14F-4D97-AF65-F5344CB8AC3E}">
        <p14:creationId xmlns:p14="http://schemas.microsoft.com/office/powerpoint/2010/main" val="84607340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AD8D099-8600-417F-B726-52BFED96D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EA8"/>
          </a:solidFill>
          <a:ln xmlns:a="http://schemas.openxmlformats.org/drawingml/2006/main" w="0">
            <a:solidFill>
              <a:srgbClr val="2E5EA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E858AA-7E9C-432A-A30B-7B998F320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5730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F6"/>
          </a:solidFill>
          <a:ln xmlns:a="http://schemas.openxmlformats.org/drawingml/2006/main" w="0">
            <a:solidFill>
              <a:srgbClr val="DCE7F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CE4F6D-5F04-441B-97A5-E516BF12D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"/>
            <a:ext cx="742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五、下一步实验计划：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F7B15A-845C-42C6-9C1D-023BE4A6F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4290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C928"/>
                </a:solidFill>
              </a:defRPr>
            </a:pPr>
            <a:r>
              <a:rPr sz="3000" b="1">
                <a:solidFill>
                  <a:srgbClr val="FFC928"/>
                </a:solidFill>
              </a:rPr>
              <a:t>阈值测试与标注清洗</a:t>
            </a:r>
          </a:p>
        </p:txBody>
      </p:sp>
      <p:graphicFrame>
        <p:nvGraphicFramePr>
          <p:cNvPr id="20" name=""/>
          <p:cNvGraphicFramePr/>
          <p:nvPr/>
        </p:nvGraphicFramePr>
        <p:xfrm>
          <a:off xmlns:a="http://schemas.openxmlformats.org/drawingml/2006/main" x="609600" y="1562100"/>
          <a:ext xmlns:a="http://schemas.openxmlformats.org/drawingml/2006/main" cx="5334000" cy="25908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333500"/>
                <a:gridCol w="1333500"/>
                <a:gridCol w="1333500"/>
                <a:gridCol w="1333500"/>
              </a:tblGrid>
              <a:tr h="43180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实验</a:t>
                      </a:r>
                    </a:p>
                  </a:txBody>
                  <a:tcPr marL="91440" marR="91440" marT="45720" marB="45720">
                    <a:solidFill>
                      <a:srgbClr val="1F4B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conf</a:t>
                      </a:r>
                    </a:p>
                  </a:txBody>
                  <a:tcPr marL="91440" marR="91440" marT="45720" marB="45720">
                    <a:solidFill>
                      <a:srgbClr val="1F4B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iou</a:t>
                      </a:r>
                    </a:p>
                  </a:txBody>
                  <a:tcPr marL="91440" marR="91440" marT="45720" marB="45720">
                    <a:solidFill>
                      <a:srgbClr val="1F4B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目的</a:t>
                      </a:r>
                    </a:p>
                  </a:txBody>
                  <a:tcPr marL="91440" marR="91440" marT="45720" marB="45720">
                    <a:solidFill>
                      <a:srgbClr val="1F4B91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63D6B"/>
                          </a:solidFill>
                        </a:rPr>
                        <a:t>T1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63D6B"/>
                          </a:solidFill>
                        </a:rPr>
                        <a:t>0.10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63D6B"/>
                          </a:solidFill>
                        </a:rPr>
                        <a:t>0.50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63D6B"/>
                          </a:solidFill>
                        </a:rPr>
                        <a:t>高召回，观察少漏检上限</a:t>
                      </a:r>
                    </a:p>
                  </a:txBody>
                  <a:tcPr marL="91440" marR="91440" marT="45720" marB="45720"/>
                </a:tc>
              </a:tr>
              <a:tr h="4318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63D6B"/>
                          </a:solidFill>
                        </a:rPr>
                        <a:t>T2</a:t>
                      </a:r>
                    </a:p>
                  </a:txBody>
                  <a:tcPr marL="91440" marR="91440" marT="45720" marB="4572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63D6B"/>
                          </a:solidFill>
                        </a:rPr>
                        <a:t>0.15</a:t>
                      </a:r>
                    </a:p>
                  </a:txBody>
                  <a:tcPr marL="91440" marR="91440" marT="45720" marB="4572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63D6B"/>
                          </a:solidFill>
                        </a:rPr>
                        <a:t>0.50</a:t>
                      </a:r>
                    </a:p>
                  </a:txBody>
                  <a:tcPr marL="91440" marR="91440" marT="45720" marB="4572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63D6B"/>
                          </a:solidFill>
                        </a:rPr>
                        <a:t>重点候选</a:t>
                      </a:r>
                    </a:p>
                  </a:txBody>
                  <a:tcPr marL="91440" marR="91440" marT="45720" marB="45720">
                    <a:solidFill>
                      <a:srgbClr val="F8F8F8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63D6B"/>
                          </a:solidFill>
                        </a:rPr>
                        <a:t>T3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63D6B"/>
                          </a:solidFill>
                        </a:rPr>
                        <a:t>0.20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63D6B"/>
                          </a:solidFill>
                        </a:rPr>
                        <a:t>0.50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63D6B"/>
                          </a:solidFill>
                        </a:rPr>
                        <a:t>平衡点</a:t>
                      </a:r>
                    </a:p>
                  </a:txBody>
                  <a:tcPr marL="91440" marR="91440" marT="45720" marB="45720"/>
                </a:tc>
              </a:tr>
              <a:tr h="4318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63D6B"/>
                          </a:solidFill>
                        </a:rPr>
                        <a:t>T4</a:t>
                      </a:r>
                    </a:p>
                  </a:txBody>
                  <a:tcPr marL="91440" marR="91440" marT="45720" marB="4572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63D6B"/>
                          </a:solidFill>
                        </a:rPr>
                        <a:t>0.25</a:t>
                      </a:r>
                    </a:p>
                  </a:txBody>
                  <a:tcPr marL="91440" marR="91440" marT="45720" marB="4572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63D6B"/>
                          </a:solidFill>
                        </a:rPr>
                        <a:t>0.50</a:t>
                      </a:r>
                    </a:p>
                  </a:txBody>
                  <a:tcPr marL="91440" marR="91440" marT="45720" marB="4572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63D6B"/>
                          </a:solidFill>
                        </a:rPr>
                        <a:t>默认附近</a:t>
                      </a:r>
                    </a:p>
                  </a:txBody>
                  <a:tcPr marL="91440" marR="91440" marT="45720" marB="45720">
                    <a:solidFill>
                      <a:srgbClr val="F8F8F8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63D6B"/>
                          </a:solidFill>
                        </a:rPr>
                        <a:t>T5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63D6B"/>
                          </a:solidFill>
                        </a:rPr>
                        <a:t>0.30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63D6B"/>
                          </a:solidFill>
                        </a:rPr>
                        <a:t>0.50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63D6B"/>
                          </a:solidFill>
                        </a:rPr>
                        <a:t>控制误报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764F74-E5B6-426F-A7DC-7B01755A2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562100"/>
            <a:ext cx="4572000" cy="259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F"/>
          </a:solidFill>
          <a:ln xmlns:a="http://schemas.openxmlformats.org/drawingml/2006/main" w="9525">
            <a:solidFill>
              <a:srgbClr val="8FA4C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291417-9FC2-4837-8A84-ADE5575FB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8859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63D6B"/>
                </a:solidFill>
              </a:defRPr>
            </a:pPr>
            <a:r>
              <a:rPr sz="1875" b="1">
                <a:solidFill>
                  <a:srgbClr val="263D6B"/>
                </a:solidFill>
              </a:rPr>
              <a:t>必须新增的部署指标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CDEE6B-6F39-4B87-8AB2-1C8A59B11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4765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63D6B"/>
                </a:solidFill>
              </a:defRPr>
            </a:pPr>
            <a:r>
              <a:rPr sz="1500" b="0">
                <a:solidFill>
                  <a:srgbClr val="263D6B"/>
                </a:solidFill>
              </a:rPr>
              <a:t>• 正常图误报张数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173496-47D1-4C64-BFFB-CB545022D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8956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63D6B"/>
                </a:solidFill>
              </a:defRPr>
            </a:pPr>
            <a:r>
              <a:rPr sz="1500" b="0">
                <a:solidFill>
                  <a:srgbClr val="263D6B"/>
                </a:solidFill>
              </a:rPr>
              <a:t>• 正常图误报框数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94E4CF-4B5B-45D5-823D-AEBA209CD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3147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63D6B"/>
                </a:solidFill>
              </a:defRPr>
            </a:pPr>
            <a:r>
              <a:rPr sz="1500" b="0">
                <a:solidFill>
                  <a:srgbClr val="263D6B"/>
                </a:solidFill>
              </a:rPr>
              <a:t>• 正常图误报率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347CF6-1C98-454A-AE58-61A5E7641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790950"/>
            <a:ext cx="361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A95"/>
                </a:solidFill>
              </a:defRPr>
            </a:pPr>
            <a:r>
              <a:rPr sz="1350" b="0">
                <a:solidFill>
                  <a:srgbClr val="526A95"/>
                </a:solidFill>
              </a:rPr>
              <a:t>最终阈值不一定选 mAP50 最高点，而是选择漏检和误报都可接受的工作点。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AEE676-3C8B-4DC8-8EF7-D676FD3FC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24400"/>
            <a:ext cx="981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63D6B"/>
                </a:solidFill>
              </a:defRPr>
            </a:pPr>
            <a:r>
              <a:rPr sz="1650" b="1">
                <a:solidFill>
                  <a:srgbClr val="263D6B"/>
                </a:solidFill>
              </a:rPr>
              <a:t>并行建议：抽取 50 张 train scratch + 20 张 val scratch，统一 scratch 标注规则后做小闭环验证。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00B28B-7911-4DC3-9C8C-5C17321AB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1510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EA8"/>
          </a:solidFill>
          <a:ln xmlns:a="http://schemas.openxmlformats.org/drawingml/2006/main" w="0">
            <a:solidFill>
              <a:srgbClr val="2E5EA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EF88B0-12E1-4711-8FF8-DCAEBDC32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103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E5EA8"/>
                </a:solidFill>
              </a:defRPr>
            </a:pPr>
            <a:r>
              <a:rPr sz="975" b="1">
                <a:solidFill>
                  <a:srgbClr val="2E5EA8"/>
                </a:solidFill>
              </a:rPr>
              <a:t>YOLO26 楔形片瑕疵检测阶段性实验汇报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4EA2A8-FAE0-48F1-893E-51470A572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6103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E5EA8"/>
                </a:solidFill>
              </a:defRPr>
            </a:pPr>
            <a:r>
              <a:rPr sz="975" b="1">
                <a:solidFill>
                  <a:srgbClr val="2E5EA8"/>
                </a:solidFill>
              </a:rPr>
              <a:t>第 8 页</a:t>
            </a:r>
          </a:p>
        </p:txBody>
      </p:sp>
    </p:spTree>
    <p:extLst>
      <p:ext uri="{BB962C8B-B14F-4D97-AF65-F5344CB8AC3E}">
        <p14:creationId xmlns:p14="http://schemas.microsoft.com/office/powerpoint/2010/main" val="16013210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2026-07-01T06:04:41.9140000Z</dcterms:created>
  <dcterms:modified xsi:type="dcterms:W3CDTF">2026-07-01T06:04:41.9140000Z</dcterms:modified>
</coreProperties>
</file>